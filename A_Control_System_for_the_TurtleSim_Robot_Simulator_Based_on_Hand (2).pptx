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hewy" charset="1" panose="02000000000000000000"/>
      <p:regular r:id="rId17"/>
    </p:embeddedFont>
    <p:embeddedFont>
      <p:font typeface="League Spartan" charset="1" panose="00000800000000000000"/>
      <p:regular r:id="rId18"/>
    </p:embeddedFont>
    <p:embeddedFont>
      <p:font typeface="Lora Bold" charset="1" panose="00000800000000000000"/>
      <p:regular r:id="rId19"/>
    </p:embeddedFont>
    <p:embeddedFont>
      <p:font typeface="Lora" charset="1" panose="00000500000000000000"/>
      <p:regular r:id="rId20"/>
    </p:embeddedFont>
    <p:embeddedFont>
      <p:font typeface="Futura Bold" charset="1" panose="020B0702020204020203"/>
      <p:regular r:id="rId21"/>
    </p:embeddedFont>
    <p:embeddedFont>
      <p:font typeface="Futura" charset="1" panose="020B05020202040203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725" y="0"/>
            <a:ext cx="3171936" cy="3171936"/>
            <a:chOff x="0" y="0"/>
            <a:chExt cx="4229248" cy="4229248"/>
          </a:xfrm>
        </p:grpSpPr>
        <p:sp>
          <p:nvSpPr>
            <p:cNvPr name="Freeform 3" id="3"/>
            <p:cNvSpPr/>
            <p:nvPr/>
          </p:nvSpPr>
          <p:spPr>
            <a:xfrm flipH="false" flipV="false" rot="659658">
              <a:off x="310888" y="310888"/>
              <a:ext cx="3607472" cy="3607472"/>
            </a:xfrm>
            <a:custGeom>
              <a:avLst/>
              <a:gdLst/>
              <a:ahLst/>
              <a:cxnLst/>
              <a:rect r="r" b="b" t="t" l="l"/>
              <a:pathLst>
                <a:path h="3607472" w="3607472">
                  <a:moveTo>
                    <a:pt x="0" y="0"/>
                  </a:moveTo>
                  <a:lnTo>
                    <a:pt x="3607472" y="0"/>
                  </a:lnTo>
                  <a:lnTo>
                    <a:pt x="3607472" y="3607472"/>
                  </a:lnTo>
                  <a:lnTo>
                    <a:pt x="0" y="360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659658">
              <a:off x="1486202" y="801991"/>
              <a:ext cx="2285054" cy="1608107"/>
            </a:xfrm>
            <a:custGeom>
              <a:avLst/>
              <a:gdLst/>
              <a:ahLst/>
              <a:cxnLst/>
              <a:rect r="r" b="b" t="t" l="l"/>
              <a:pathLst>
                <a:path h="1608107" w="2285054">
                  <a:moveTo>
                    <a:pt x="0" y="0"/>
                  </a:moveTo>
                  <a:lnTo>
                    <a:pt x="2285053" y="0"/>
                  </a:lnTo>
                  <a:lnTo>
                    <a:pt x="2285053" y="1608107"/>
                  </a:lnTo>
                  <a:lnTo>
                    <a:pt x="0" y="1608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285469" y="8423709"/>
            <a:ext cx="2377437" cy="2377437"/>
            <a:chOff x="0" y="0"/>
            <a:chExt cx="3169917" cy="3169917"/>
          </a:xfrm>
        </p:grpSpPr>
        <p:grpSp>
          <p:nvGrpSpPr>
            <p:cNvPr name="Group 6" id="6"/>
            <p:cNvGrpSpPr/>
            <p:nvPr/>
          </p:nvGrpSpPr>
          <p:grpSpPr>
            <a:xfrm rot="-925584">
              <a:off x="296346" y="296346"/>
              <a:ext cx="2577224" cy="257722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true" flipV="false" rot="-925584">
              <a:off x="591341" y="414716"/>
              <a:ext cx="1987234" cy="1311574"/>
            </a:xfrm>
            <a:custGeom>
              <a:avLst/>
              <a:gdLst/>
              <a:ahLst/>
              <a:cxnLst/>
              <a:rect r="r" b="b" t="t" l="l"/>
              <a:pathLst>
                <a:path h="1311574" w="1987234">
                  <a:moveTo>
                    <a:pt x="1987234" y="0"/>
                  </a:moveTo>
                  <a:lnTo>
                    <a:pt x="0" y="0"/>
                  </a:lnTo>
                  <a:lnTo>
                    <a:pt x="0" y="1311574"/>
                  </a:lnTo>
                  <a:lnTo>
                    <a:pt x="1987234" y="1311574"/>
                  </a:lnTo>
                  <a:lnTo>
                    <a:pt x="1987234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333707" y="6560419"/>
            <a:ext cx="3920762" cy="3726581"/>
            <a:chOff x="0" y="0"/>
            <a:chExt cx="5227682" cy="4968775"/>
          </a:xfrm>
        </p:grpSpPr>
        <p:grpSp>
          <p:nvGrpSpPr>
            <p:cNvPr name="Group 11" id="11"/>
            <p:cNvGrpSpPr/>
            <p:nvPr/>
          </p:nvGrpSpPr>
          <p:grpSpPr>
            <a:xfrm rot="1448954">
              <a:off x="556441" y="684162"/>
              <a:ext cx="4114800" cy="3600450"/>
              <a:chOff x="0" y="0"/>
              <a:chExt cx="812800" cy="711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4BB6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1448954">
              <a:off x="1206303" y="2055750"/>
              <a:ext cx="2162275" cy="1789283"/>
            </a:xfrm>
            <a:custGeom>
              <a:avLst/>
              <a:gdLst/>
              <a:ahLst/>
              <a:cxnLst/>
              <a:rect r="r" b="b" t="t" l="l"/>
              <a:pathLst>
                <a:path h="1789283" w="2162275">
                  <a:moveTo>
                    <a:pt x="0" y="0"/>
                  </a:moveTo>
                  <a:lnTo>
                    <a:pt x="2162275" y="0"/>
                  </a:lnTo>
                  <a:lnTo>
                    <a:pt x="2162275" y="1789283"/>
                  </a:lnTo>
                  <a:lnTo>
                    <a:pt x="0" y="1789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-5553395">
            <a:off x="-259650" y="6480475"/>
            <a:ext cx="3291694" cy="2312415"/>
          </a:xfrm>
          <a:custGeom>
            <a:avLst/>
            <a:gdLst/>
            <a:ahLst/>
            <a:cxnLst/>
            <a:rect r="r" b="b" t="t" l="l"/>
            <a:pathLst>
              <a:path h="2312415" w="3291694">
                <a:moveTo>
                  <a:pt x="0" y="0"/>
                </a:moveTo>
                <a:lnTo>
                  <a:pt x="3291693" y="0"/>
                </a:lnTo>
                <a:lnTo>
                  <a:pt x="3291693" y="2312415"/>
                </a:lnTo>
                <a:lnTo>
                  <a:pt x="0" y="2312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307620">
            <a:off x="972231" y="6000969"/>
            <a:ext cx="1396096" cy="1155269"/>
          </a:xfrm>
          <a:custGeom>
            <a:avLst/>
            <a:gdLst/>
            <a:ahLst/>
            <a:cxnLst/>
            <a:rect r="r" b="b" t="t" l="l"/>
            <a:pathLst>
              <a:path h="1155269" w="1396096">
                <a:moveTo>
                  <a:pt x="1396095" y="0"/>
                </a:moveTo>
                <a:lnTo>
                  <a:pt x="0" y="0"/>
                </a:lnTo>
                <a:lnTo>
                  <a:pt x="0" y="1155269"/>
                </a:lnTo>
                <a:lnTo>
                  <a:pt x="1396095" y="1155269"/>
                </a:lnTo>
                <a:lnTo>
                  <a:pt x="13960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468737" y="2246285"/>
            <a:ext cx="11890033" cy="3694614"/>
            <a:chOff x="0" y="0"/>
            <a:chExt cx="15831228" cy="49192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31229" cy="4919270"/>
            </a:xfrm>
            <a:custGeom>
              <a:avLst/>
              <a:gdLst/>
              <a:ahLst/>
              <a:cxnLst/>
              <a:rect r="r" b="b" t="t" l="l"/>
              <a:pathLst>
                <a:path h="4919270" w="15831229">
                  <a:moveTo>
                    <a:pt x="0" y="0"/>
                  </a:moveTo>
                  <a:lnTo>
                    <a:pt x="15831229" y="0"/>
                  </a:lnTo>
                  <a:lnTo>
                    <a:pt x="15831229" y="4919270"/>
                  </a:lnTo>
                  <a:lnTo>
                    <a:pt x="0" y="491927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5831228" cy="4928795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80385" y="6751992"/>
            <a:ext cx="11019599" cy="1396810"/>
            <a:chOff x="0" y="0"/>
            <a:chExt cx="14672271" cy="18598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72270" cy="1859811"/>
            </a:xfrm>
            <a:custGeom>
              <a:avLst/>
              <a:gdLst/>
              <a:ahLst/>
              <a:cxnLst/>
              <a:rect r="r" b="b" t="t" l="l"/>
              <a:pathLst>
                <a:path h="1859811" w="14672270">
                  <a:moveTo>
                    <a:pt x="0" y="0"/>
                  </a:moveTo>
                  <a:lnTo>
                    <a:pt x="14672270" y="0"/>
                  </a:lnTo>
                  <a:lnTo>
                    <a:pt x="14672270" y="1859811"/>
                  </a:lnTo>
                  <a:lnTo>
                    <a:pt x="0" y="18598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4672271" cy="1869336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397496">
            <a:off x="16047038" y="70465"/>
            <a:ext cx="1676498" cy="3031005"/>
            <a:chOff x="0" y="0"/>
            <a:chExt cx="714176" cy="12911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4176" cy="1291186"/>
            </a:xfrm>
            <a:custGeom>
              <a:avLst/>
              <a:gdLst/>
              <a:ahLst/>
              <a:cxnLst/>
              <a:rect r="r" b="b" t="t" l="l"/>
              <a:pathLst>
                <a:path h="1291186" w="714176">
                  <a:moveTo>
                    <a:pt x="0" y="0"/>
                  </a:moveTo>
                  <a:lnTo>
                    <a:pt x="714176" y="0"/>
                  </a:lnTo>
                  <a:lnTo>
                    <a:pt x="714176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14176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1397496">
            <a:off x="15774958" y="176571"/>
            <a:ext cx="1214543" cy="1559606"/>
          </a:xfrm>
          <a:custGeom>
            <a:avLst/>
            <a:gdLst/>
            <a:ahLst/>
            <a:cxnLst/>
            <a:rect r="r" b="b" t="t" l="l"/>
            <a:pathLst>
              <a:path h="1559606" w="1214543">
                <a:moveTo>
                  <a:pt x="0" y="0"/>
                </a:moveTo>
                <a:lnTo>
                  <a:pt x="1214544" y="0"/>
                </a:lnTo>
                <a:lnTo>
                  <a:pt x="1214544" y="1559607"/>
                </a:lnTo>
                <a:lnTo>
                  <a:pt x="0" y="15596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477867" y="2572176"/>
            <a:ext cx="11890033" cy="381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sz="6002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 Control System for the TurtleSim Robot Simulator Based on Hand Gesture Recognition for Drawing Geometric S</a:t>
            </a:r>
            <a:r>
              <a:rPr lang="en-US" sz="6002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hapes</a:t>
            </a:r>
          </a:p>
          <a:p>
            <a:pPr algn="ctr">
              <a:lnSpc>
                <a:spcPts val="5942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-139136" y="3159954"/>
            <a:ext cx="2556289" cy="2318048"/>
            <a:chOff x="0" y="0"/>
            <a:chExt cx="3408385" cy="3090730"/>
          </a:xfrm>
        </p:grpSpPr>
        <p:grpSp>
          <p:nvGrpSpPr>
            <p:cNvPr name="Group 29" id="29"/>
            <p:cNvGrpSpPr/>
            <p:nvPr/>
          </p:nvGrpSpPr>
          <p:grpSpPr>
            <a:xfrm rot="-727628">
              <a:off x="232807" y="280893"/>
              <a:ext cx="2942771" cy="2528944"/>
              <a:chOff x="0" y="0"/>
              <a:chExt cx="812800" cy="698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4BB6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true" flipV="false" rot="-726988">
              <a:off x="859525" y="673743"/>
              <a:ext cx="1479037" cy="976165"/>
            </a:xfrm>
            <a:custGeom>
              <a:avLst/>
              <a:gdLst/>
              <a:ahLst/>
              <a:cxnLst/>
              <a:rect r="r" b="b" t="t" l="l"/>
              <a:pathLst>
                <a:path h="976165" w="1479037">
                  <a:moveTo>
                    <a:pt x="1479037" y="0"/>
                  </a:moveTo>
                  <a:lnTo>
                    <a:pt x="0" y="0"/>
                  </a:lnTo>
                  <a:lnTo>
                    <a:pt x="0" y="976164"/>
                  </a:lnTo>
                  <a:lnTo>
                    <a:pt x="1479037" y="976164"/>
                  </a:lnTo>
                  <a:lnTo>
                    <a:pt x="1479037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09045" y="3904191"/>
            <a:ext cx="2478619" cy="2478619"/>
            <a:chOff x="0" y="0"/>
            <a:chExt cx="3304825" cy="3304825"/>
          </a:xfrm>
        </p:grpSpPr>
        <p:grpSp>
          <p:nvGrpSpPr>
            <p:cNvPr name="Group 34" id="34"/>
            <p:cNvGrpSpPr/>
            <p:nvPr/>
          </p:nvGrpSpPr>
          <p:grpSpPr>
            <a:xfrm rot="-412624">
              <a:off x="167158" y="167158"/>
              <a:ext cx="2970509" cy="2970509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solidFill>
                <a:srgbClr val="EF5F3C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63500" y="34925"/>
                <a:ext cx="6858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669362" y="467558"/>
              <a:ext cx="1753070" cy="1450665"/>
            </a:xfrm>
            <a:custGeom>
              <a:avLst/>
              <a:gdLst/>
              <a:ahLst/>
              <a:cxnLst/>
              <a:rect r="r" b="b" t="t" l="l"/>
              <a:pathLst>
                <a:path h="1450665" w="1753070">
                  <a:moveTo>
                    <a:pt x="0" y="0"/>
                  </a:moveTo>
                  <a:lnTo>
                    <a:pt x="1753069" y="0"/>
                  </a:lnTo>
                  <a:lnTo>
                    <a:pt x="1753069" y="1450665"/>
                  </a:lnTo>
                  <a:lnTo>
                    <a:pt x="0" y="145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3913084" y="7020354"/>
            <a:ext cx="1101959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  <a:spcBef>
                <a:spcPct val="0"/>
              </a:spcBef>
            </a:pPr>
            <a:r>
              <a:rPr lang="en-US" b="true" sz="2250" spc="4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BAGDAULETKYZY AKBOTA, MARATOVA AISSULU, YERMAGAMBETOVA MADINA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27698"/>
            <a:ext cx="15385439" cy="296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7"/>
              </a:lnSpc>
            </a:pPr>
            <a:r>
              <a:rPr lang="en-US" b="true" sz="3199" spc="-28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Problem</a:t>
            </a:r>
            <a:r>
              <a:rPr lang="en-US" sz="3199" spc="-2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Traditional robot control methods (keyboard, joystick, CLI) require technical skills and physical devices.</a:t>
            </a:r>
          </a:p>
          <a:p>
            <a:pPr algn="just">
              <a:lnSpc>
                <a:spcPts val="3967"/>
              </a:lnSpc>
            </a:pPr>
            <a:r>
              <a:rPr lang="en-US" b="true" sz="3199" spc="-28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Solution</a:t>
            </a:r>
            <a:r>
              <a:rPr lang="en-US" sz="3199" spc="-2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A natural human-robot interface where the user draws a geometric shape in the air with their index finger, and the TurtleSim robot instantly reproduces it.</a:t>
            </a:r>
          </a:p>
          <a:p>
            <a:pPr algn="just">
              <a:lnSpc>
                <a:spcPts val="3967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070463" y="841490"/>
            <a:ext cx="8147075" cy="602731"/>
            <a:chOff x="0" y="0"/>
            <a:chExt cx="10847590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47590" cy="802518"/>
            </a:xfrm>
            <a:custGeom>
              <a:avLst/>
              <a:gdLst/>
              <a:ahLst/>
              <a:cxnLst/>
              <a:rect r="r" b="b" t="t" l="l"/>
              <a:pathLst>
                <a:path h="802518" w="10847590">
                  <a:moveTo>
                    <a:pt x="0" y="0"/>
                  </a:moveTo>
                  <a:lnTo>
                    <a:pt x="10847590" y="0"/>
                  </a:lnTo>
                  <a:lnTo>
                    <a:pt x="10847590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0847590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70463" y="398092"/>
            <a:ext cx="8147075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  <a:spcBef>
                <a:spcPct val="0"/>
              </a:spcBef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In</a:t>
            </a: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troduction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659658">
            <a:off x="14137015" y="8046385"/>
            <a:ext cx="1051062" cy="1051062"/>
          </a:xfrm>
          <a:custGeom>
            <a:avLst/>
            <a:gdLst/>
            <a:ahLst/>
            <a:cxnLst/>
            <a:rect r="r" b="b" t="t" l="l"/>
            <a:pathLst>
              <a:path h="1051062" w="1051062">
                <a:moveTo>
                  <a:pt x="0" y="0"/>
                </a:moveTo>
                <a:lnTo>
                  <a:pt x="1051061" y="0"/>
                </a:lnTo>
                <a:lnTo>
                  <a:pt x="1051061" y="1051061"/>
                </a:lnTo>
                <a:lnTo>
                  <a:pt x="0" y="1051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59658">
            <a:off x="10041408" y="9583636"/>
            <a:ext cx="655228" cy="655228"/>
          </a:xfrm>
          <a:custGeom>
            <a:avLst/>
            <a:gdLst/>
            <a:ahLst/>
            <a:cxnLst/>
            <a:rect r="r" b="b" t="t" l="l"/>
            <a:pathLst>
              <a:path h="655228" w="655228">
                <a:moveTo>
                  <a:pt x="0" y="0"/>
                </a:moveTo>
                <a:lnTo>
                  <a:pt x="655228" y="0"/>
                </a:lnTo>
                <a:lnTo>
                  <a:pt x="655228" y="655228"/>
                </a:lnTo>
                <a:lnTo>
                  <a:pt x="0" y="655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9658">
            <a:off x="16445391" y="8682170"/>
            <a:ext cx="1574854" cy="1574854"/>
          </a:xfrm>
          <a:custGeom>
            <a:avLst/>
            <a:gdLst/>
            <a:ahLst/>
            <a:cxnLst/>
            <a:rect r="r" b="b" t="t" l="l"/>
            <a:pathLst>
              <a:path h="1574854" w="1574854">
                <a:moveTo>
                  <a:pt x="0" y="0"/>
                </a:moveTo>
                <a:lnTo>
                  <a:pt x="1574855" y="0"/>
                </a:lnTo>
                <a:lnTo>
                  <a:pt x="1574855" y="1574855"/>
                </a:lnTo>
                <a:lnTo>
                  <a:pt x="0" y="1574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925584">
            <a:off x="13612514" y="9520673"/>
            <a:ext cx="981247" cy="98124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925584">
            <a:off x="17061887" y="5751624"/>
            <a:ext cx="981247" cy="98124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1448954">
            <a:off x="14915405" y="8344498"/>
            <a:ext cx="1869859" cy="1636127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BB6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1448954">
            <a:off x="9293570" y="9624608"/>
            <a:ext cx="636139" cy="556622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BB6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659658">
            <a:off x="14394144" y="8147469"/>
            <a:ext cx="665766" cy="468533"/>
          </a:xfrm>
          <a:custGeom>
            <a:avLst/>
            <a:gdLst/>
            <a:ahLst/>
            <a:cxnLst/>
            <a:rect r="r" b="b" t="t" l="l"/>
            <a:pathLst>
              <a:path h="468533" w="665766">
                <a:moveTo>
                  <a:pt x="0" y="0"/>
                </a:moveTo>
                <a:lnTo>
                  <a:pt x="665766" y="0"/>
                </a:lnTo>
                <a:lnTo>
                  <a:pt x="665766" y="468533"/>
                </a:lnTo>
                <a:lnTo>
                  <a:pt x="0" y="468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659658">
            <a:off x="10201702" y="9646652"/>
            <a:ext cx="415036" cy="292082"/>
          </a:xfrm>
          <a:custGeom>
            <a:avLst/>
            <a:gdLst/>
            <a:ahLst/>
            <a:cxnLst/>
            <a:rect r="r" b="b" t="t" l="l"/>
            <a:pathLst>
              <a:path h="292082" w="415036">
                <a:moveTo>
                  <a:pt x="0" y="0"/>
                </a:moveTo>
                <a:lnTo>
                  <a:pt x="415036" y="0"/>
                </a:lnTo>
                <a:lnTo>
                  <a:pt x="415036" y="292082"/>
                </a:lnTo>
                <a:lnTo>
                  <a:pt x="0" y="292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659658">
            <a:off x="16830660" y="8833630"/>
            <a:ext cx="997548" cy="702024"/>
          </a:xfrm>
          <a:custGeom>
            <a:avLst/>
            <a:gdLst/>
            <a:ahLst/>
            <a:cxnLst/>
            <a:rect r="r" b="b" t="t" l="l"/>
            <a:pathLst>
              <a:path h="702024" w="997548">
                <a:moveTo>
                  <a:pt x="0" y="0"/>
                </a:moveTo>
                <a:lnTo>
                  <a:pt x="997548" y="0"/>
                </a:lnTo>
                <a:lnTo>
                  <a:pt x="997548" y="702024"/>
                </a:lnTo>
                <a:lnTo>
                  <a:pt x="0" y="702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-925584">
            <a:off x="13724829" y="9565741"/>
            <a:ext cx="756616" cy="499366"/>
          </a:xfrm>
          <a:custGeom>
            <a:avLst/>
            <a:gdLst/>
            <a:ahLst/>
            <a:cxnLst/>
            <a:rect r="r" b="b" t="t" l="l"/>
            <a:pathLst>
              <a:path h="499366" w="756616">
                <a:moveTo>
                  <a:pt x="756616" y="0"/>
                </a:moveTo>
                <a:lnTo>
                  <a:pt x="0" y="0"/>
                </a:lnTo>
                <a:lnTo>
                  <a:pt x="0" y="499366"/>
                </a:lnTo>
                <a:lnTo>
                  <a:pt x="756616" y="499366"/>
                </a:lnTo>
                <a:lnTo>
                  <a:pt x="75661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-925584">
            <a:off x="17174203" y="5796692"/>
            <a:ext cx="756616" cy="499366"/>
          </a:xfrm>
          <a:custGeom>
            <a:avLst/>
            <a:gdLst/>
            <a:ahLst/>
            <a:cxnLst/>
            <a:rect r="r" b="b" t="t" l="l"/>
            <a:pathLst>
              <a:path h="499366" w="756616">
                <a:moveTo>
                  <a:pt x="756616" y="0"/>
                </a:moveTo>
                <a:lnTo>
                  <a:pt x="0" y="0"/>
                </a:lnTo>
                <a:lnTo>
                  <a:pt x="0" y="499366"/>
                </a:lnTo>
                <a:lnTo>
                  <a:pt x="756616" y="499366"/>
                </a:lnTo>
                <a:lnTo>
                  <a:pt x="75661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1448954">
            <a:off x="15249068" y="9001297"/>
            <a:ext cx="982587" cy="813091"/>
          </a:xfrm>
          <a:custGeom>
            <a:avLst/>
            <a:gdLst/>
            <a:ahLst/>
            <a:cxnLst/>
            <a:rect r="r" b="b" t="t" l="l"/>
            <a:pathLst>
              <a:path h="813091" w="982587">
                <a:moveTo>
                  <a:pt x="0" y="0"/>
                </a:moveTo>
                <a:lnTo>
                  <a:pt x="982588" y="0"/>
                </a:lnTo>
                <a:lnTo>
                  <a:pt x="982588" y="813091"/>
                </a:lnTo>
                <a:lnTo>
                  <a:pt x="0" y="8130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448954">
            <a:off x="9407085" y="9848056"/>
            <a:ext cx="334283" cy="276619"/>
          </a:xfrm>
          <a:custGeom>
            <a:avLst/>
            <a:gdLst/>
            <a:ahLst/>
            <a:cxnLst/>
            <a:rect r="r" b="b" t="t" l="l"/>
            <a:pathLst>
              <a:path h="276619" w="334283">
                <a:moveTo>
                  <a:pt x="0" y="0"/>
                </a:moveTo>
                <a:lnTo>
                  <a:pt x="334283" y="0"/>
                </a:lnTo>
                <a:lnTo>
                  <a:pt x="334283" y="276619"/>
                </a:lnTo>
                <a:lnTo>
                  <a:pt x="0" y="2766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6192622">
            <a:off x="16746526" y="7228600"/>
            <a:ext cx="1448898" cy="1017851"/>
          </a:xfrm>
          <a:custGeom>
            <a:avLst/>
            <a:gdLst/>
            <a:ahLst/>
            <a:cxnLst/>
            <a:rect r="r" b="b" t="t" l="l"/>
            <a:pathLst>
              <a:path h="1017851" w="1448898">
                <a:moveTo>
                  <a:pt x="0" y="0"/>
                </a:moveTo>
                <a:lnTo>
                  <a:pt x="1448898" y="0"/>
                </a:lnTo>
                <a:lnTo>
                  <a:pt x="1448898" y="1017851"/>
                </a:lnTo>
                <a:lnTo>
                  <a:pt x="0" y="1017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6192622">
            <a:off x="17057982" y="4240923"/>
            <a:ext cx="1448898" cy="1017851"/>
          </a:xfrm>
          <a:custGeom>
            <a:avLst/>
            <a:gdLst/>
            <a:ahLst/>
            <a:cxnLst/>
            <a:rect r="r" b="b" t="t" l="l"/>
            <a:pathLst>
              <a:path h="1017851" w="1448898">
                <a:moveTo>
                  <a:pt x="0" y="0"/>
                </a:moveTo>
                <a:lnTo>
                  <a:pt x="1448898" y="0"/>
                </a:lnTo>
                <a:lnTo>
                  <a:pt x="1448898" y="1017851"/>
                </a:lnTo>
                <a:lnTo>
                  <a:pt x="0" y="10178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-946846">
            <a:off x="17163717" y="7155035"/>
            <a:ext cx="614517" cy="508513"/>
          </a:xfrm>
          <a:custGeom>
            <a:avLst/>
            <a:gdLst/>
            <a:ahLst/>
            <a:cxnLst/>
            <a:rect r="r" b="b" t="t" l="l"/>
            <a:pathLst>
              <a:path h="508513" w="614517">
                <a:moveTo>
                  <a:pt x="614516" y="0"/>
                </a:moveTo>
                <a:lnTo>
                  <a:pt x="0" y="0"/>
                </a:lnTo>
                <a:lnTo>
                  <a:pt x="0" y="508512"/>
                </a:lnTo>
                <a:lnTo>
                  <a:pt x="614516" y="508512"/>
                </a:lnTo>
                <a:lnTo>
                  <a:pt x="61451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-1397496">
            <a:off x="12191749" y="8695217"/>
            <a:ext cx="927255" cy="1473005"/>
            <a:chOff x="0" y="0"/>
            <a:chExt cx="812800" cy="12911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756241">
            <a:off x="15856324" y="6986918"/>
            <a:ext cx="788912" cy="1253238"/>
            <a:chOff x="0" y="0"/>
            <a:chExt cx="812800" cy="12911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1397496">
            <a:off x="12241287" y="8910227"/>
            <a:ext cx="590243" cy="757936"/>
          </a:xfrm>
          <a:custGeom>
            <a:avLst/>
            <a:gdLst/>
            <a:ahLst/>
            <a:cxnLst/>
            <a:rect r="r" b="b" t="t" l="l"/>
            <a:pathLst>
              <a:path h="757936" w="590243">
                <a:moveTo>
                  <a:pt x="0" y="0"/>
                </a:moveTo>
                <a:lnTo>
                  <a:pt x="590243" y="0"/>
                </a:lnTo>
                <a:lnTo>
                  <a:pt x="590243" y="757936"/>
                </a:lnTo>
                <a:lnTo>
                  <a:pt x="0" y="7579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756241">
            <a:off x="15988790" y="7133533"/>
            <a:ext cx="502181" cy="644855"/>
          </a:xfrm>
          <a:custGeom>
            <a:avLst/>
            <a:gdLst/>
            <a:ahLst/>
            <a:cxnLst/>
            <a:rect r="r" b="b" t="t" l="l"/>
            <a:pathLst>
              <a:path h="644855" w="502181">
                <a:moveTo>
                  <a:pt x="0" y="0"/>
                </a:moveTo>
                <a:lnTo>
                  <a:pt x="502181" y="0"/>
                </a:lnTo>
                <a:lnTo>
                  <a:pt x="502181" y="644855"/>
                </a:lnTo>
                <a:lnTo>
                  <a:pt x="0" y="6448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-925930">
            <a:off x="17415887" y="4327092"/>
            <a:ext cx="665766" cy="468533"/>
          </a:xfrm>
          <a:custGeom>
            <a:avLst/>
            <a:gdLst/>
            <a:ahLst/>
            <a:cxnLst/>
            <a:rect r="r" b="b" t="t" l="l"/>
            <a:pathLst>
              <a:path h="468533" w="665766">
                <a:moveTo>
                  <a:pt x="0" y="0"/>
                </a:moveTo>
                <a:lnTo>
                  <a:pt x="665766" y="0"/>
                </a:lnTo>
                <a:lnTo>
                  <a:pt x="665766" y="468532"/>
                </a:lnTo>
                <a:lnTo>
                  <a:pt x="0" y="468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-727628">
            <a:off x="10851508" y="9099312"/>
            <a:ext cx="1243878" cy="1068958"/>
            <a:chOff x="0" y="0"/>
            <a:chExt cx="812800" cy="698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BB6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7628">
            <a:off x="16013145" y="6020399"/>
            <a:ext cx="738400" cy="634562"/>
            <a:chOff x="0" y="0"/>
            <a:chExt cx="812800" cy="698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BB61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true" flipV="false" rot="-726988">
            <a:off x="11116415" y="9265365"/>
            <a:ext cx="625173" cy="412614"/>
          </a:xfrm>
          <a:custGeom>
            <a:avLst/>
            <a:gdLst/>
            <a:ahLst/>
            <a:cxnLst/>
            <a:rect r="r" b="b" t="t" l="l"/>
            <a:pathLst>
              <a:path h="412614" w="625173">
                <a:moveTo>
                  <a:pt x="625173" y="0"/>
                </a:moveTo>
                <a:lnTo>
                  <a:pt x="0" y="0"/>
                </a:lnTo>
                <a:lnTo>
                  <a:pt x="0" y="412615"/>
                </a:lnTo>
                <a:lnTo>
                  <a:pt x="625173" y="412615"/>
                </a:lnTo>
                <a:lnTo>
                  <a:pt x="6251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-726988">
            <a:off x="16170401" y="6118973"/>
            <a:ext cx="371120" cy="244939"/>
          </a:xfrm>
          <a:custGeom>
            <a:avLst/>
            <a:gdLst/>
            <a:ahLst/>
            <a:cxnLst/>
            <a:rect r="r" b="b" t="t" l="l"/>
            <a:pathLst>
              <a:path h="244939" w="371120">
                <a:moveTo>
                  <a:pt x="371120" y="0"/>
                </a:moveTo>
                <a:lnTo>
                  <a:pt x="0" y="0"/>
                </a:lnTo>
                <a:lnTo>
                  <a:pt x="0" y="244939"/>
                </a:lnTo>
                <a:lnTo>
                  <a:pt x="371120" y="244939"/>
                </a:lnTo>
                <a:lnTo>
                  <a:pt x="3711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75620">
            <a:off x="17133183" y="2772135"/>
            <a:ext cx="1011777" cy="1011777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EF5F3C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75620">
            <a:off x="13298097" y="8640614"/>
            <a:ext cx="679934" cy="679934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EF5F3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-2105608">
            <a:off x="17425351" y="2986888"/>
            <a:ext cx="366333" cy="470411"/>
          </a:xfrm>
          <a:custGeom>
            <a:avLst/>
            <a:gdLst/>
            <a:ahLst/>
            <a:cxnLst/>
            <a:rect r="r" b="b" t="t" l="l"/>
            <a:pathLst>
              <a:path h="470411" w="366333">
                <a:moveTo>
                  <a:pt x="0" y="0"/>
                </a:moveTo>
                <a:lnTo>
                  <a:pt x="366333" y="0"/>
                </a:lnTo>
                <a:lnTo>
                  <a:pt x="366333" y="470411"/>
                </a:lnTo>
                <a:lnTo>
                  <a:pt x="0" y="4704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-2105608">
            <a:off x="13494440" y="8784932"/>
            <a:ext cx="246183" cy="316126"/>
          </a:xfrm>
          <a:custGeom>
            <a:avLst/>
            <a:gdLst/>
            <a:ahLst/>
            <a:cxnLst/>
            <a:rect r="r" b="b" t="t" l="l"/>
            <a:pathLst>
              <a:path h="316126" w="246183">
                <a:moveTo>
                  <a:pt x="0" y="0"/>
                </a:moveTo>
                <a:lnTo>
                  <a:pt x="246182" y="0"/>
                </a:lnTo>
                <a:lnTo>
                  <a:pt x="246182" y="316126"/>
                </a:lnTo>
                <a:lnTo>
                  <a:pt x="0" y="3161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028700" y="6514893"/>
            <a:ext cx="10758190" cy="21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9"/>
              </a:lnSpc>
            </a:pPr>
            <a:r>
              <a:rPr lang="en-US" b="true" sz="2749" spc="-24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Key Features</a:t>
            </a:r>
          </a:p>
          <a:p>
            <a:pPr algn="just" marL="593722" indent="-296861" lvl="1">
              <a:lnSpc>
                <a:spcPts val="3409"/>
              </a:lnSpc>
              <a:buFont typeface="Arial"/>
              <a:buChar char="•"/>
            </a:pPr>
            <a:r>
              <a:rPr lang="en-US" sz="2749" spc="-2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Real-time hand tracking with MediaPipe</a:t>
            </a:r>
          </a:p>
          <a:p>
            <a:pPr algn="just" marL="593722" indent="-296861" lvl="1">
              <a:lnSpc>
                <a:spcPts val="3409"/>
              </a:lnSpc>
              <a:buFont typeface="Arial"/>
              <a:buChar char="•"/>
            </a:pPr>
            <a:r>
              <a:rPr lang="en-US" sz="2749" spc="-2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Shape recognition using OpenCV (no machine learning training)</a:t>
            </a:r>
          </a:p>
          <a:p>
            <a:pPr algn="just" marL="593722" indent="-296861" lvl="1">
              <a:lnSpc>
                <a:spcPts val="3409"/>
              </a:lnSpc>
              <a:buFont typeface="Arial"/>
              <a:buChar char="•"/>
            </a:pPr>
            <a:r>
              <a:rPr lang="en-US" sz="2749" spc="-2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Smooth drawing via ROS 2 and PD controller</a:t>
            </a:r>
          </a:p>
          <a:p>
            <a:pPr algn="just" marL="593722" indent="-296861" lvl="1">
              <a:lnSpc>
                <a:spcPts val="3409"/>
              </a:lnSpc>
              <a:buFont typeface="Arial"/>
              <a:buChar char="•"/>
            </a:pPr>
            <a:r>
              <a:rPr lang="en-US" sz="2749" spc="-2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Three supported shapes: Circle, Rectangle, Triangle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7024" y="2241703"/>
            <a:ext cx="12178765" cy="637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104" spc="-27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Existing Approaches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Sensor gloves / markers (restrict movement)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Static gesture recognition (limited vocabulary)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Deep learning models (require large training datasets)</a:t>
            </a:r>
          </a:p>
          <a:p>
            <a:pPr algn="l">
              <a:lnSpc>
                <a:spcPts val="3849"/>
              </a:lnSpc>
            </a:pPr>
            <a:r>
              <a:rPr lang="en-US" sz="3104" spc="-27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Our Contribution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Dynamic shape drawing instead of static gestures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 pre-training required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Combines MediaPipe + OpenCV + ROS 2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High accuracy (85% average) with deterministic algorithm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Smooth trajectory reproduction using PD controller</a:t>
            </a:r>
          </a:p>
          <a:p>
            <a:pPr algn="l">
              <a:lnSpc>
                <a:spcPts val="3849"/>
              </a:lnSpc>
            </a:pPr>
            <a:r>
              <a:rPr lang="en-US" sz="3104" spc="-27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Advantage</a:t>
            </a: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User simply draws what they want — no need to memorize gesture commands.</a:t>
            </a:r>
          </a:p>
          <a:p>
            <a:pPr algn="l">
              <a:lnSpc>
                <a:spcPts val="384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382522" y="856604"/>
            <a:ext cx="8867433" cy="602731"/>
            <a:chOff x="0" y="0"/>
            <a:chExt cx="11806726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06726" cy="802518"/>
            </a:xfrm>
            <a:custGeom>
              <a:avLst/>
              <a:gdLst/>
              <a:ahLst/>
              <a:cxnLst/>
              <a:rect r="r" b="b" t="t" l="l"/>
              <a:pathLst>
                <a:path h="802518" w="11806726">
                  <a:moveTo>
                    <a:pt x="0" y="0"/>
                  </a:moveTo>
                  <a:lnTo>
                    <a:pt x="11806726" y="0"/>
                  </a:lnTo>
                  <a:lnTo>
                    <a:pt x="11806726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1806726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76582" y="303588"/>
            <a:ext cx="11286704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Related Works &amp; Contribution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2223" y="7116786"/>
            <a:ext cx="3170214" cy="3170214"/>
          </a:xfrm>
          <a:custGeom>
            <a:avLst/>
            <a:gdLst/>
            <a:ahLst/>
            <a:cxnLst/>
            <a:rect r="r" b="b" t="t" l="l"/>
            <a:pathLst>
              <a:path h="3170214" w="3170214">
                <a:moveTo>
                  <a:pt x="0" y="0"/>
                </a:moveTo>
                <a:lnTo>
                  <a:pt x="3170214" y="0"/>
                </a:lnTo>
                <a:lnTo>
                  <a:pt x="3170214" y="3170214"/>
                </a:lnTo>
                <a:lnTo>
                  <a:pt x="0" y="3170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91284" y="7824478"/>
            <a:ext cx="2453156" cy="2453156"/>
          </a:xfrm>
          <a:custGeom>
            <a:avLst/>
            <a:gdLst/>
            <a:ahLst/>
            <a:cxnLst/>
            <a:rect r="r" b="b" t="t" l="l"/>
            <a:pathLst>
              <a:path h="2453156" w="2453156">
                <a:moveTo>
                  <a:pt x="0" y="0"/>
                </a:moveTo>
                <a:lnTo>
                  <a:pt x="2453156" y="0"/>
                </a:lnTo>
                <a:lnTo>
                  <a:pt x="2453156" y="2453156"/>
                </a:lnTo>
                <a:lnTo>
                  <a:pt x="0" y="2453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60854" y="2562318"/>
            <a:ext cx="1975662" cy="1975662"/>
          </a:xfrm>
          <a:custGeom>
            <a:avLst/>
            <a:gdLst/>
            <a:ahLst/>
            <a:cxnLst/>
            <a:rect r="r" b="b" t="t" l="l"/>
            <a:pathLst>
              <a:path h="1975662" w="1975662">
                <a:moveTo>
                  <a:pt x="0" y="0"/>
                </a:moveTo>
                <a:lnTo>
                  <a:pt x="1975662" y="0"/>
                </a:lnTo>
                <a:lnTo>
                  <a:pt x="1975662" y="1975662"/>
                </a:lnTo>
                <a:lnTo>
                  <a:pt x="0" y="1975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91284" y="-492161"/>
            <a:ext cx="3054478" cy="3054478"/>
          </a:xfrm>
          <a:custGeom>
            <a:avLst/>
            <a:gdLst/>
            <a:ahLst/>
            <a:cxnLst/>
            <a:rect r="r" b="b" t="t" l="l"/>
            <a:pathLst>
              <a:path h="3054478" w="3054478">
                <a:moveTo>
                  <a:pt x="0" y="0"/>
                </a:moveTo>
                <a:lnTo>
                  <a:pt x="3054479" y="0"/>
                </a:lnTo>
                <a:lnTo>
                  <a:pt x="3054479" y="3054479"/>
                </a:lnTo>
                <a:lnTo>
                  <a:pt x="0" y="3054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45451" y="5039433"/>
            <a:ext cx="2112630" cy="2112630"/>
          </a:xfrm>
          <a:custGeom>
            <a:avLst/>
            <a:gdLst/>
            <a:ahLst/>
            <a:cxnLst/>
            <a:rect r="r" b="b" t="t" l="l"/>
            <a:pathLst>
              <a:path h="2112630" w="2112630">
                <a:moveTo>
                  <a:pt x="0" y="0"/>
                </a:moveTo>
                <a:lnTo>
                  <a:pt x="2112630" y="0"/>
                </a:lnTo>
                <a:lnTo>
                  <a:pt x="2112630" y="2112630"/>
                </a:lnTo>
                <a:lnTo>
                  <a:pt x="0" y="2112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89272" y="8597145"/>
            <a:ext cx="2112630" cy="2112630"/>
          </a:xfrm>
          <a:custGeom>
            <a:avLst/>
            <a:gdLst/>
            <a:ahLst/>
            <a:cxnLst/>
            <a:rect r="r" b="b" t="t" l="l"/>
            <a:pathLst>
              <a:path h="2112630" w="2112630">
                <a:moveTo>
                  <a:pt x="0" y="0"/>
                </a:moveTo>
                <a:lnTo>
                  <a:pt x="2112630" y="0"/>
                </a:lnTo>
                <a:lnTo>
                  <a:pt x="2112630" y="2112630"/>
                </a:lnTo>
                <a:lnTo>
                  <a:pt x="0" y="2112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25457" y="-494854"/>
            <a:ext cx="3004739" cy="3004739"/>
          </a:xfrm>
          <a:custGeom>
            <a:avLst/>
            <a:gdLst/>
            <a:ahLst/>
            <a:cxnLst/>
            <a:rect r="r" b="b" t="t" l="l"/>
            <a:pathLst>
              <a:path h="3004739" w="3004739">
                <a:moveTo>
                  <a:pt x="0" y="0"/>
                </a:moveTo>
                <a:lnTo>
                  <a:pt x="3004739" y="0"/>
                </a:lnTo>
                <a:lnTo>
                  <a:pt x="3004739" y="3004739"/>
                </a:lnTo>
                <a:lnTo>
                  <a:pt x="0" y="3004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6977" y="7574531"/>
            <a:ext cx="1744547" cy="1227725"/>
          </a:xfrm>
          <a:custGeom>
            <a:avLst/>
            <a:gdLst/>
            <a:ahLst/>
            <a:cxnLst/>
            <a:rect r="r" b="b" t="t" l="l"/>
            <a:pathLst>
              <a:path h="1227725" w="1744547">
                <a:moveTo>
                  <a:pt x="0" y="0"/>
                </a:moveTo>
                <a:lnTo>
                  <a:pt x="1744547" y="0"/>
                </a:lnTo>
                <a:lnTo>
                  <a:pt x="1744547" y="1227725"/>
                </a:lnTo>
                <a:lnTo>
                  <a:pt x="0" y="1227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848210" y="5467555"/>
            <a:ext cx="1102945" cy="776197"/>
          </a:xfrm>
          <a:custGeom>
            <a:avLst/>
            <a:gdLst/>
            <a:ahLst/>
            <a:cxnLst/>
            <a:rect r="r" b="b" t="t" l="l"/>
            <a:pathLst>
              <a:path h="776197" w="1102945">
                <a:moveTo>
                  <a:pt x="0" y="0"/>
                </a:moveTo>
                <a:lnTo>
                  <a:pt x="1102945" y="0"/>
                </a:lnTo>
                <a:lnTo>
                  <a:pt x="1102945" y="776198"/>
                </a:lnTo>
                <a:lnTo>
                  <a:pt x="0" y="77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925584">
            <a:off x="7200374" y="8777652"/>
            <a:ext cx="1490425" cy="983681"/>
          </a:xfrm>
          <a:custGeom>
            <a:avLst/>
            <a:gdLst/>
            <a:ahLst/>
            <a:cxnLst/>
            <a:rect r="r" b="b" t="t" l="l"/>
            <a:pathLst>
              <a:path h="983681" w="1490425">
                <a:moveTo>
                  <a:pt x="1490425" y="0"/>
                </a:moveTo>
                <a:lnTo>
                  <a:pt x="0" y="0"/>
                </a:lnTo>
                <a:lnTo>
                  <a:pt x="0" y="983681"/>
                </a:lnTo>
                <a:lnTo>
                  <a:pt x="1490425" y="983681"/>
                </a:lnTo>
                <a:lnTo>
                  <a:pt x="149042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925584">
            <a:off x="793125" y="541348"/>
            <a:ext cx="1412630" cy="932336"/>
          </a:xfrm>
          <a:custGeom>
            <a:avLst/>
            <a:gdLst/>
            <a:ahLst/>
            <a:cxnLst/>
            <a:rect r="r" b="b" t="t" l="l"/>
            <a:pathLst>
              <a:path h="932336" w="1412630">
                <a:moveTo>
                  <a:pt x="1412630" y="0"/>
                </a:moveTo>
                <a:lnTo>
                  <a:pt x="0" y="0"/>
                </a:lnTo>
                <a:lnTo>
                  <a:pt x="0" y="932336"/>
                </a:lnTo>
                <a:lnTo>
                  <a:pt x="1412630" y="932336"/>
                </a:lnTo>
                <a:lnTo>
                  <a:pt x="14126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946846">
            <a:off x="175738" y="2873894"/>
            <a:ext cx="1006855" cy="833173"/>
          </a:xfrm>
          <a:custGeom>
            <a:avLst/>
            <a:gdLst/>
            <a:ahLst/>
            <a:cxnLst/>
            <a:rect r="r" b="b" t="t" l="l"/>
            <a:pathLst>
              <a:path h="833173" w="1006855">
                <a:moveTo>
                  <a:pt x="1006855" y="0"/>
                </a:moveTo>
                <a:lnTo>
                  <a:pt x="0" y="0"/>
                </a:lnTo>
                <a:lnTo>
                  <a:pt x="0" y="833173"/>
                </a:lnTo>
                <a:lnTo>
                  <a:pt x="1006855" y="833173"/>
                </a:lnTo>
                <a:lnTo>
                  <a:pt x="100685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397496">
            <a:off x="15340687" y="406635"/>
            <a:ext cx="1170204" cy="1502670"/>
          </a:xfrm>
          <a:custGeom>
            <a:avLst/>
            <a:gdLst/>
            <a:ahLst/>
            <a:cxnLst/>
            <a:rect r="r" b="b" t="t" l="l"/>
            <a:pathLst>
              <a:path h="1502670" w="1170204">
                <a:moveTo>
                  <a:pt x="0" y="0"/>
                </a:moveTo>
                <a:lnTo>
                  <a:pt x="1170204" y="0"/>
                </a:lnTo>
                <a:lnTo>
                  <a:pt x="1170204" y="1502670"/>
                </a:lnTo>
                <a:lnTo>
                  <a:pt x="0" y="1502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67263">
            <a:off x="15585956" y="7982462"/>
            <a:ext cx="939831" cy="1206845"/>
          </a:xfrm>
          <a:custGeom>
            <a:avLst/>
            <a:gdLst/>
            <a:ahLst/>
            <a:cxnLst/>
            <a:rect r="r" b="b" t="t" l="l"/>
            <a:pathLst>
              <a:path h="1206845" w="939831">
                <a:moveTo>
                  <a:pt x="0" y="0"/>
                </a:moveTo>
                <a:lnTo>
                  <a:pt x="939831" y="0"/>
                </a:lnTo>
                <a:lnTo>
                  <a:pt x="939831" y="1206845"/>
                </a:lnTo>
                <a:lnTo>
                  <a:pt x="0" y="12068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5634" y="2815205"/>
            <a:ext cx="9683527" cy="554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Main Components</a:t>
            </a:r>
          </a:p>
          <a:p>
            <a:pPr algn="ctr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Hardw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are: Webcam + Laptop (Ubuntu 22.04 + VirtualBox)</a:t>
            </a:r>
          </a:p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Software Pipeline: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Video Capture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MediaPipe Hands (21 landmarks)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Trajectory Accumulation + Canvas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Shape Classification Engine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ROS 2 Control Node (PD controller)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TurtleSim Simulator</a:t>
            </a:r>
          </a:p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Communication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ROS 2 topics and services (cmd_vel, set_pen, pose)</a:t>
            </a:r>
          </a:p>
          <a:p>
            <a:pPr algn="l">
              <a:lnSpc>
                <a:spcPts val="360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053160" y="1105324"/>
            <a:ext cx="6235155" cy="602731"/>
            <a:chOff x="0" y="0"/>
            <a:chExt cx="8301925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01925" cy="802518"/>
            </a:xfrm>
            <a:custGeom>
              <a:avLst/>
              <a:gdLst/>
              <a:ahLst/>
              <a:cxnLst/>
              <a:rect r="r" b="b" t="t" l="l"/>
              <a:pathLst>
                <a:path h="802518" w="8301925">
                  <a:moveTo>
                    <a:pt x="0" y="0"/>
                  </a:moveTo>
                  <a:lnTo>
                    <a:pt x="8301925" y="0"/>
                  </a:lnTo>
                  <a:lnTo>
                    <a:pt x="8301925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301925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059161" y="3177662"/>
            <a:ext cx="6935516" cy="4655465"/>
          </a:xfrm>
          <a:custGeom>
            <a:avLst/>
            <a:gdLst/>
            <a:ahLst/>
            <a:cxnLst/>
            <a:rect r="r" b="b" t="t" l="l"/>
            <a:pathLst>
              <a:path h="4655465" w="6935516">
                <a:moveTo>
                  <a:pt x="0" y="0"/>
                </a:moveTo>
                <a:lnTo>
                  <a:pt x="6935516" y="0"/>
                </a:lnTo>
                <a:lnTo>
                  <a:pt x="6935516" y="4655465"/>
                </a:lnTo>
                <a:lnTo>
                  <a:pt x="0" y="4655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49904" y="631740"/>
            <a:ext cx="7041666" cy="88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  <a:spcBef>
                <a:spcPct val="0"/>
              </a:spcBef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System Architecture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2887791" cy="2891405"/>
          </a:xfrm>
          <a:custGeom>
            <a:avLst/>
            <a:gdLst/>
            <a:ahLst/>
            <a:cxnLst/>
            <a:rect r="r" b="b" t="t" l="l"/>
            <a:pathLst>
              <a:path h="2891405" w="2887791">
                <a:moveTo>
                  <a:pt x="0" y="0"/>
                </a:moveTo>
                <a:lnTo>
                  <a:pt x="2887791" y="0"/>
                </a:lnTo>
                <a:lnTo>
                  <a:pt x="2887791" y="2891405"/>
                </a:lnTo>
                <a:lnTo>
                  <a:pt x="0" y="2891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96586" y="7833127"/>
            <a:ext cx="3480962" cy="3485318"/>
          </a:xfrm>
          <a:custGeom>
            <a:avLst/>
            <a:gdLst/>
            <a:ahLst/>
            <a:cxnLst/>
            <a:rect r="r" b="b" t="t" l="l"/>
            <a:pathLst>
              <a:path h="3485318" w="3480962">
                <a:moveTo>
                  <a:pt x="0" y="0"/>
                </a:moveTo>
                <a:lnTo>
                  <a:pt x="3480962" y="0"/>
                </a:lnTo>
                <a:lnTo>
                  <a:pt x="3480962" y="3485318"/>
                </a:lnTo>
                <a:lnTo>
                  <a:pt x="0" y="34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5627227"/>
            <a:ext cx="1700512" cy="1702640"/>
          </a:xfrm>
          <a:custGeom>
            <a:avLst/>
            <a:gdLst/>
            <a:ahLst/>
            <a:cxnLst/>
            <a:rect r="r" b="b" t="t" l="l"/>
            <a:pathLst>
              <a:path h="1702640" w="1700512">
                <a:moveTo>
                  <a:pt x="0" y="0"/>
                </a:moveTo>
                <a:lnTo>
                  <a:pt x="1700512" y="0"/>
                </a:lnTo>
                <a:lnTo>
                  <a:pt x="1700512" y="1702640"/>
                </a:lnTo>
                <a:lnTo>
                  <a:pt x="0" y="1702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64548">
            <a:off x="3590055" y="8471982"/>
            <a:ext cx="1452316" cy="1454134"/>
          </a:xfrm>
          <a:custGeom>
            <a:avLst/>
            <a:gdLst/>
            <a:ahLst/>
            <a:cxnLst/>
            <a:rect r="r" b="b" t="t" l="l"/>
            <a:pathLst>
              <a:path h="1454134" w="1452316">
                <a:moveTo>
                  <a:pt x="0" y="0"/>
                </a:moveTo>
                <a:lnTo>
                  <a:pt x="1452316" y="0"/>
                </a:lnTo>
                <a:lnTo>
                  <a:pt x="1452316" y="1454134"/>
                </a:lnTo>
                <a:lnTo>
                  <a:pt x="0" y="1454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936" y="3909188"/>
            <a:ext cx="1211698" cy="1213215"/>
          </a:xfrm>
          <a:custGeom>
            <a:avLst/>
            <a:gdLst/>
            <a:ahLst/>
            <a:cxnLst/>
            <a:rect r="r" b="b" t="t" l="l"/>
            <a:pathLst>
              <a:path h="1213215" w="1211698">
                <a:moveTo>
                  <a:pt x="0" y="0"/>
                </a:moveTo>
                <a:lnTo>
                  <a:pt x="1211698" y="0"/>
                </a:lnTo>
                <a:lnTo>
                  <a:pt x="1211698" y="1213214"/>
                </a:lnTo>
                <a:lnTo>
                  <a:pt x="0" y="1213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13898"/>
            <a:ext cx="15001995" cy="326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PD Cont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roll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er for Turtle Navigation</a:t>
            </a:r>
          </a:p>
          <a:p>
            <a:pPr algn="ctr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robot uses a Proportional-Derivative (PD) controll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er to follow the generated trajectory smoothly and accurately.</a:t>
            </a:r>
          </a:p>
          <a:p>
            <a:pPr algn="l">
              <a:lnSpc>
                <a:spcPts val="3601"/>
              </a:lnSpc>
            </a:pP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The controller continuously calculates two types of errors:</a:t>
            </a:r>
          </a:p>
          <a:p>
            <a:pPr algn="l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1. </a:t>
            </a: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Dist</a:t>
            </a: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ance Error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Difference between the turtle position and target waypoint.</a:t>
            </a:r>
          </a:p>
          <a:p>
            <a:pPr algn="l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2. </a:t>
            </a: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Angle Error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Difference between the turtle orie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ntation and the desired direction.</a:t>
            </a:r>
          </a:p>
          <a:p>
            <a:pPr algn="l">
              <a:lnSpc>
                <a:spcPts val="360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002908" y="1105324"/>
            <a:ext cx="10695050" cy="602731"/>
            <a:chOff x="0" y="0"/>
            <a:chExt cx="14240143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40143" cy="802518"/>
            </a:xfrm>
            <a:custGeom>
              <a:avLst/>
              <a:gdLst/>
              <a:ahLst/>
              <a:cxnLst/>
              <a:rect r="r" b="b" t="t" l="l"/>
              <a:pathLst>
                <a:path h="802518" w="14240143">
                  <a:moveTo>
                    <a:pt x="0" y="0"/>
                  </a:moveTo>
                  <a:lnTo>
                    <a:pt x="14240143" y="0"/>
                  </a:lnTo>
                  <a:lnTo>
                    <a:pt x="14240143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240143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08945" y="-298870"/>
            <a:ext cx="2887791" cy="2891405"/>
          </a:xfrm>
          <a:custGeom>
            <a:avLst/>
            <a:gdLst/>
            <a:ahLst/>
            <a:cxnLst/>
            <a:rect r="r" b="b" t="t" l="l"/>
            <a:pathLst>
              <a:path h="2891405" w="2887791">
                <a:moveTo>
                  <a:pt x="0" y="0"/>
                </a:moveTo>
                <a:lnTo>
                  <a:pt x="2887791" y="0"/>
                </a:lnTo>
                <a:lnTo>
                  <a:pt x="2887791" y="2891405"/>
                </a:lnTo>
                <a:lnTo>
                  <a:pt x="0" y="2891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18819" y="5122402"/>
            <a:ext cx="3480962" cy="3485318"/>
          </a:xfrm>
          <a:custGeom>
            <a:avLst/>
            <a:gdLst/>
            <a:ahLst/>
            <a:cxnLst/>
            <a:rect r="r" b="b" t="t" l="l"/>
            <a:pathLst>
              <a:path h="3485318" w="3480962">
                <a:moveTo>
                  <a:pt x="0" y="0"/>
                </a:moveTo>
                <a:lnTo>
                  <a:pt x="3480962" y="0"/>
                </a:lnTo>
                <a:lnTo>
                  <a:pt x="3480962" y="3485319"/>
                </a:lnTo>
                <a:lnTo>
                  <a:pt x="0" y="34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6233" y="3183085"/>
            <a:ext cx="1700512" cy="1702640"/>
          </a:xfrm>
          <a:custGeom>
            <a:avLst/>
            <a:gdLst/>
            <a:ahLst/>
            <a:cxnLst/>
            <a:rect r="r" b="b" t="t" l="l"/>
            <a:pathLst>
              <a:path h="1702640" w="1700512">
                <a:moveTo>
                  <a:pt x="0" y="0"/>
                </a:moveTo>
                <a:lnTo>
                  <a:pt x="1700512" y="0"/>
                </a:lnTo>
                <a:lnTo>
                  <a:pt x="1700512" y="1702640"/>
                </a:lnTo>
                <a:lnTo>
                  <a:pt x="0" y="170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64548">
            <a:off x="16835327" y="8848719"/>
            <a:ext cx="1452316" cy="1454134"/>
          </a:xfrm>
          <a:custGeom>
            <a:avLst/>
            <a:gdLst/>
            <a:ahLst/>
            <a:cxnLst/>
            <a:rect r="r" b="b" t="t" l="l"/>
            <a:pathLst>
              <a:path h="1454134" w="1452316">
                <a:moveTo>
                  <a:pt x="0" y="0"/>
                </a:moveTo>
                <a:lnTo>
                  <a:pt x="1452316" y="0"/>
                </a:lnTo>
                <a:lnTo>
                  <a:pt x="1452316" y="1454134"/>
                </a:lnTo>
                <a:lnTo>
                  <a:pt x="0" y="1454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97958" y="9198571"/>
            <a:ext cx="1211698" cy="1213215"/>
          </a:xfrm>
          <a:custGeom>
            <a:avLst/>
            <a:gdLst/>
            <a:ahLst/>
            <a:cxnLst/>
            <a:rect r="r" b="b" t="t" l="l"/>
            <a:pathLst>
              <a:path h="1213215" w="1211698">
                <a:moveTo>
                  <a:pt x="0" y="0"/>
                </a:moveTo>
                <a:lnTo>
                  <a:pt x="1211698" y="0"/>
                </a:lnTo>
                <a:lnTo>
                  <a:pt x="1211698" y="1213215"/>
                </a:lnTo>
                <a:lnTo>
                  <a:pt x="0" y="1213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4538" y="5399542"/>
            <a:ext cx="12714271" cy="417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Distance E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ror Equation</a:t>
            </a: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l">
              <a:lnSpc>
                <a:spcPts val="3601"/>
              </a:lnSpc>
            </a:pP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Where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</a:t>
            </a:r>
          </a:p>
          <a:p>
            <a:pPr algn="l" marL="627116" indent="-313558" lvl="1">
              <a:lnSpc>
                <a:spcPts val="3601"/>
              </a:lnSpc>
              <a:buFont typeface="Arial"/>
              <a:buChar char="•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x_t, y_t  = target waypoint</a:t>
            </a:r>
          </a:p>
          <a:p>
            <a:pPr algn="l" marL="627116" indent="-313558" lvl="1">
              <a:lnSpc>
                <a:spcPts val="3601"/>
              </a:lnSpc>
              <a:buFont typeface="Arial"/>
              <a:buChar char="•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x, y = current turtle position</a:t>
            </a:r>
          </a:p>
          <a:p>
            <a:pPr algn="ctr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is det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ermines how far the turtle is from the target and enables real-time trajectory correc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tion for smooth shape drawing.</a:t>
            </a:r>
          </a:p>
          <a:p>
            <a:pPr algn="l">
              <a:lnSpc>
                <a:spcPts val="360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847911" y="6056767"/>
            <a:ext cx="5347525" cy="1017626"/>
          </a:xfrm>
          <a:custGeom>
            <a:avLst/>
            <a:gdLst/>
            <a:ahLst/>
            <a:cxnLst/>
            <a:rect r="r" b="b" t="t" l="l"/>
            <a:pathLst>
              <a:path h="1017626" w="5347525">
                <a:moveTo>
                  <a:pt x="0" y="0"/>
                </a:moveTo>
                <a:lnTo>
                  <a:pt x="5347525" y="0"/>
                </a:lnTo>
                <a:lnTo>
                  <a:pt x="5347525" y="1017626"/>
                </a:lnTo>
                <a:lnTo>
                  <a:pt x="0" y="1017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96475" y="582163"/>
            <a:ext cx="11107917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PD Controller for Turtle Navigation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79127"/>
            <a:ext cx="15001995" cy="737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Desi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ed Angle Equation:</a:t>
            </a: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l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This calculates the d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rection toward the waypoint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</a:t>
            </a: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Angle Error Normalization:</a:t>
            </a: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l">
              <a:lnSpc>
                <a:spcPts val="3601"/>
              </a:lnSpc>
            </a:pP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This keeps the angle error between:</a:t>
            </a:r>
          </a:p>
          <a:p>
            <a:pPr algn="l" marL="627116" indent="-313558" lvl="1">
              <a:lnSpc>
                <a:spcPts val="3601"/>
              </a:lnSpc>
              <a:buFont typeface="Arial"/>
              <a:buChar char="•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−π </a:t>
            </a:r>
          </a:p>
          <a:p>
            <a:pPr algn="l" marL="627116" indent="-313558" lvl="1">
              <a:lnSpc>
                <a:spcPts val="3601"/>
              </a:lnSpc>
              <a:buFont typeface="Arial"/>
              <a:buChar char="•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+π </a:t>
            </a:r>
          </a:p>
          <a:p>
            <a:pPr algn="l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and prevents unstable rotations (wrap-around issue).</a:t>
            </a:r>
          </a:p>
          <a:p>
            <a:pPr algn="ctr">
              <a:lnSpc>
                <a:spcPts val="3601"/>
              </a:lnSpc>
            </a:pPr>
          </a:p>
          <a:p>
            <a:pPr algn="l">
              <a:lnSpc>
                <a:spcPts val="360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105324"/>
            <a:ext cx="16230600" cy="602731"/>
            <a:chOff x="0" y="0"/>
            <a:chExt cx="21610565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10565" cy="802518"/>
            </a:xfrm>
            <a:custGeom>
              <a:avLst/>
              <a:gdLst/>
              <a:ahLst/>
              <a:cxnLst/>
              <a:rect r="r" b="b" t="t" l="l"/>
              <a:pathLst>
                <a:path h="802518" w="21610565">
                  <a:moveTo>
                    <a:pt x="0" y="0"/>
                  </a:moveTo>
                  <a:lnTo>
                    <a:pt x="21610565" y="0"/>
                  </a:lnTo>
                  <a:lnTo>
                    <a:pt x="21610565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610565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55206" y="3183085"/>
            <a:ext cx="5748983" cy="809116"/>
          </a:xfrm>
          <a:custGeom>
            <a:avLst/>
            <a:gdLst/>
            <a:ahLst/>
            <a:cxnLst/>
            <a:rect r="r" b="b" t="t" l="l"/>
            <a:pathLst>
              <a:path h="809116" w="5748983">
                <a:moveTo>
                  <a:pt x="0" y="0"/>
                </a:moveTo>
                <a:lnTo>
                  <a:pt x="5748983" y="0"/>
                </a:lnTo>
                <a:lnTo>
                  <a:pt x="5748983" y="809116"/>
                </a:lnTo>
                <a:lnTo>
                  <a:pt x="0" y="8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19481" y="6005549"/>
            <a:ext cx="7420432" cy="719557"/>
          </a:xfrm>
          <a:custGeom>
            <a:avLst/>
            <a:gdLst/>
            <a:ahLst/>
            <a:cxnLst/>
            <a:rect r="r" b="b" t="t" l="l"/>
            <a:pathLst>
              <a:path h="719557" w="7420432">
                <a:moveTo>
                  <a:pt x="0" y="0"/>
                </a:moveTo>
                <a:lnTo>
                  <a:pt x="7420432" y="0"/>
                </a:lnTo>
                <a:lnTo>
                  <a:pt x="7420432" y="719557"/>
                </a:lnTo>
                <a:lnTo>
                  <a:pt x="0" y="719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88643" y="3587643"/>
            <a:ext cx="6699357" cy="6699357"/>
          </a:xfrm>
          <a:custGeom>
            <a:avLst/>
            <a:gdLst/>
            <a:ahLst/>
            <a:cxnLst/>
            <a:rect r="r" b="b" t="t" l="l"/>
            <a:pathLst>
              <a:path h="6699357" w="6699357">
                <a:moveTo>
                  <a:pt x="0" y="0"/>
                </a:moveTo>
                <a:lnTo>
                  <a:pt x="6699357" y="0"/>
                </a:lnTo>
                <a:lnTo>
                  <a:pt x="6699357" y="6699357"/>
                </a:lnTo>
                <a:lnTo>
                  <a:pt x="0" y="6699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14255"/>
            <a:ext cx="16092639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Desired Angle Equation &amp; Angle Error Normalization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97076" y="768000"/>
            <a:ext cx="6711338" cy="602731"/>
            <a:chOff x="0" y="0"/>
            <a:chExt cx="8935948" cy="802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35948" cy="802518"/>
            </a:xfrm>
            <a:custGeom>
              <a:avLst/>
              <a:gdLst/>
              <a:ahLst/>
              <a:cxnLst/>
              <a:rect r="r" b="b" t="t" l="l"/>
              <a:pathLst>
                <a:path h="802518" w="8935948">
                  <a:moveTo>
                    <a:pt x="0" y="0"/>
                  </a:moveTo>
                  <a:lnTo>
                    <a:pt x="8935948" y="0"/>
                  </a:lnTo>
                  <a:lnTo>
                    <a:pt x="8935948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8935948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652573">
            <a:off x="16275084" y="8480518"/>
            <a:ext cx="2488748" cy="24887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25669">
            <a:off x="-429641" y="8316269"/>
            <a:ext cx="2620040" cy="26200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8038" y="0"/>
            <a:ext cx="2187677" cy="218767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718640">
            <a:off x="15921349" y="-2081"/>
            <a:ext cx="2061562" cy="206156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882728">
            <a:off x="17520048" y="4624445"/>
            <a:ext cx="1661664" cy="16616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801891">
            <a:off x="403850" y="3186781"/>
            <a:ext cx="1512782" cy="15127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652573">
            <a:off x="16266732" y="8603669"/>
            <a:ext cx="1919013" cy="1266548"/>
          </a:xfrm>
          <a:custGeom>
            <a:avLst/>
            <a:gdLst/>
            <a:ahLst/>
            <a:cxnLst/>
            <a:rect r="r" b="b" t="t" l="l"/>
            <a:pathLst>
              <a:path h="1266548" w="1919013">
                <a:moveTo>
                  <a:pt x="0" y="0"/>
                </a:moveTo>
                <a:lnTo>
                  <a:pt x="1919012" y="0"/>
                </a:lnTo>
                <a:lnTo>
                  <a:pt x="1919012" y="1266548"/>
                </a:lnTo>
                <a:lnTo>
                  <a:pt x="0" y="1266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725669">
            <a:off x="156427" y="8437209"/>
            <a:ext cx="1744547" cy="1227725"/>
          </a:xfrm>
          <a:custGeom>
            <a:avLst/>
            <a:gdLst/>
            <a:ahLst/>
            <a:cxnLst/>
            <a:rect r="r" b="b" t="t" l="l"/>
            <a:pathLst>
              <a:path h="1227725" w="1744547">
                <a:moveTo>
                  <a:pt x="0" y="0"/>
                </a:moveTo>
                <a:lnTo>
                  <a:pt x="1744546" y="0"/>
                </a:lnTo>
                <a:lnTo>
                  <a:pt x="1744546" y="1227725"/>
                </a:lnTo>
                <a:lnTo>
                  <a:pt x="0" y="1227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882728">
            <a:off x="784516" y="3453203"/>
            <a:ext cx="1004123" cy="706652"/>
          </a:xfrm>
          <a:custGeom>
            <a:avLst/>
            <a:gdLst/>
            <a:ahLst/>
            <a:cxnLst/>
            <a:rect r="r" b="b" t="t" l="l"/>
            <a:pathLst>
              <a:path h="706652" w="1004123">
                <a:moveTo>
                  <a:pt x="0" y="0"/>
                </a:moveTo>
                <a:lnTo>
                  <a:pt x="1004123" y="0"/>
                </a:lnTo>
                <a:lnTo>
                  <a:pt x="1004123" y="706652"/>
                </a:lnTo>
                <a:lnTo>
                  <a:pt x="0" y="706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-925584">
            <a:off x="707247" y="194703"/>
            <a:ext cx="1737264" cy="1146595"/>
          </a:xfrm>
          <a:custGeom>
            <a:avLst/>
            <a:gdLst/>
            <a:ahLst/>
            <a:cxnLst/>
            <a:rect r="r" b="b" t="t" l="l"/>
            <a:pathLst>
              <a:path h="1146595" w="1737264">
                <a:moveTo>
                  <a:pt x="1737264" y="0"/>
                </a:moveTo>
                <a:lnTo>
                  <a:pt x="0" y="0"/>
                </a:lnTo>
                <a:lnTo>
                  <a:pt x="0" y="1146594"/>
                </a:lnTo>
                <a:lnTo>
                  <a:pt x="1737264" y="1146594"/>
                </a:lnTo>
                <a:lnTo>
                  <a:pt x="17372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1397496">
            <a:off x="16099852" y="170125"/>
            <a:ext cx="1170204" cy="1502670"/>
          </a:xfrm>
          <a:custGeom>
            <a:avLst/>
            <a:gdLst/>
            <a:ahLst/>
            <a:cxnLst/>
            <a:rect r="r" b="b" t="t" l="l"/>
            <a:pathLst>
              <a:path h="1502670" w="1170204">
                <a:moveTo>
                  <a:pt x="0" y="0"/>
                </a:moveTo>
                <a:lnTo>
                  <a:pt x="1170204" y="0"/>
                </a:lnTo>
                <a:lnTo>
                  <a:pt x="1170204" y="1502670"/>
                </a:lnTo>
                <a:lnTo>
                  <a:pt x="0" y="15026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108398">
            <a:off x="17608037" y="4790612"/>
            <a:ext cx="901949" cy="705775"/>
          </a:xfrm>
          <a:custGeom>
            <a:avLst/>
            <a:gdLst/>
            <a:ahLst/>
            <a:cxnLst/>
            <a:rect r="r" b="b" t="t" l="l"/>
            <a:pathLst>
              <a:path h="705775" w="901949">
                <a:moveTo>
                  <a:pt x="0" y="0"/>
                </a:moveTo>
                <a:lnTo>
                  <a:pt x="901950" y="0"/>
                </a:lnTo>
                <a:lnTo>
                  <a:pt x="901950" y="705776"/>
                </a:lnTo>
                <a:lnTo>
                  <a:pt x="0" y="705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656719" y="2761301"/>
            <a:ext cx="5286840" cy="2757588"/>
          </a:xfrm>
          <a:custGeom>
            <a:avLst/>
            <a:gdLst/>
            <a:ahLst/>
            <a:cxnLst/>
            <a:rect r="r" b="b" t="t" l="l"/>
            <a:pathLst>
              <a:path h="2757588" w="5286840">
                <a:moveTo>
                  <a:pt x="0" y="0"/>
                </a:moveTo>
                <a:lnTo>
                  <a:pt x="5286840" y="0"/>
                </a:lnTo>
                <a:lnTo>
                  <a:pt x="5286840" y="2757588"/>
                </a:lnTo>
                <a:lnTo>
                  <a:pt x="0" y="2757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398157" y="324894"/>
            <a:ext cx="7212212" cy="186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1"/>
              </a:lnSpc>
            </a:pPr>
            <a:r>
              <a:rPr lang="en-US" sz="5622" spc="112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Experimental Results</a:t>
            </a:r>
          </a:p>
          <a:p>
            <a:pPr algn="ctr">
              <a:lnSpc>
                <a:spcPts val="7421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565715" y="2149577"/>
            <a:ext cx="5111186" cy="496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5"/>
              </a:lnSpc>
            </a:pPr>
            <a:r>
              <a:rPr lang="en-US" b="true" sz="3049" spc="-2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Accuracy (150 trials)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86721" y="5596070"/>
            <a:ext cx="13626836" cy="403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5"/>
              </a:lnSpc>
            </a:pPr>
            <a:r>
              <a:rPr lang="en-US" b="true" sz="3049" spc="-2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Average Times</a:t>
            </a:r>
          </a:p>
          <a:p>
            <a:pPr algn="l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Hand detection: 0.03 s</a:t>
            </a:r>
          </a:p>
          <a:p>
            <a:pPr algn="l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Shape classification: 0.01 s</a:t>
            </a:r>
          </a:p>
          <a:p>
            <a:pPr algn="l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Drawing in TurtleSim: 3.5 – 6.0 s</a:t>
            </a:r>
          </a:p>
          <a:p>
            <a:pPr algn="l">
              <a:lnSpc>
                <a:spcPts val="4025"/>
              </a:lnSpc>
            </a:pPr>
          </a:p>
          <a:p>
            <a:pPr algn="ctr">
              <a:lnSpc>
                <a:spcPts val="4025"/>
              </a:lnSpc>
            </a:pPr>
            <a:r>
              <a:rPr lang="en-US" b="true" sz="3049" spc="-2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Main Error Sources:</a:t>
            </a: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hand tremor, very small/fast gestures, extreme aspect ratios.</a:t>
            </a:r>
          </a:p>
          <a:p>
            <a:pPr algn="ctr">
              <a:lnSpc>
                <a:spcPts val="402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97076" y="768000"/>
            <a:ext cx="6711338" cy="602731"/>
            <a:chOff x="0" y="0"/>
            <a:chExt cx="8935948" cy="802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35948" cy="802518"/>
            </a:xfrm>
            <a:custGeom>
              <a:avLst/>
              <a:gdLst/>
              <a:ahLst/>
              <a:cxnLst/>
              <a:rect r="r" b="b" t="t" l="l"/>
              <a:pathLst>
                <a:path h="802518" w="8935948">
                  <a:moveTo>
                    <a:pt x="0" y="0"/>
                  </a:moveTo>
                  <a:lnTo>
                    <a:pt x="8935948" y="0"/>
                  </a:lnTo>
                  <a:lnTo>
                    <a:pt x="8935948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8935948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9226" y="2048652"/>
            <a:ext cx="5009747" cy="6679663"/>
          </a:xfrm>
          <a:custGeom>
            <a:avLst/>
            <a:gdLst/>
            <a:ahLst/>
            <a:cxnLst/>
            <a:rect r="r" b="b" t="t" l="l"/>
            <a:pathLst>
              <a:path h="6679663" w="5009747">
                <a:moveTo>
                  <a:pt x="0" y="0"/>
                </a:moveTo>
                <a:lnTo>
                  <a:pt x="5009747" y="0"/>
                </a:lnTo>
                <a:lnTo>
                  <a:pt x="5009747" y="6679662"/>
                </a:lnTo>
                <a:lnTo>
                  <a:pt x="0" y="6679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98123" y="2048652"/>
            <a:ext cx="5291753" cy="6679663"/>
          </a:xfrm>
          <a:custGeom>
            <a:avLst/>
            <a:gdLst/>
            <a:ahLst/>
            <a:cxnLst/>
            <a:rect r="r" b="b" t="t" l="l"/>
            <a:pathLst>
              <a:path h="6679663" w="5291753">
                <a:moveTo>
                  <a:pt x="0" y="0"/>
                </a:moveTo>
                <a:lnTo>
                  <a:pt x="5291754" y="0"/>
                </a:lnTo>
                <a:lnTo>
                  <a:pt x="5291754" y="6679662"/>
                </a:lnTo>
                <a:lnTo>
                  <a:pt x="0" y="6679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949" r="0" b="-5280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10369" y="2048652"/>
            <a:ext cx="5174041" cy="6679663"/>
          </a:xfrm>
          <a:custGeom>
            <a:avLst/>
            <a:gdLst/>
            <a:ahLst/>
            <a:cxnLst/>
            <a:rect r="r" b="b" t="t" l="l"/>
            <a:pathLst>
              <a:path h="6679663" w="5174041">
                <a:moveTo>
                  <a:pt x="0" y="0"/>
                </a:moveTo>
                <a:lnTo>
                  <a:pt x="5174041" y="0"/>
                </a:lnTo>
                <a:lnTo>
                  <a:pt x="5174041" y="6679662"/>
                </a:lnTo>
                <a:lnTo>
                  <a:pt x="0" y="6679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292" r="0" b="-476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8157" y="324894"/>
            <a:ext cx="7212212" cy="92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1"/>
              </a:lnSpc>
              <a:spcBef>
                <a:spcPct val="0"/>
              </a:spcBef>
            </a:pPr>
            <a:r>
              <a:rPr lang="en-US" sz="5622" spc="112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DEMO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52573">
            <a:off x="16275084" y="8480518"/>
            <a:ext cx="2488748" cy="248874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8038" y="0"/>
            <a:ext cx="2187677" cy="218767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718640">
            <a:off x="15921349" y="-2081"/>
            <a:ext cx="2061562" cy="206156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82728">
            <a:off x="17520048" y="4624445"/>
            <a:ext cx="1661664" cy="166166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801891">
            <a:off x="403850" y="3186781"/>
            <a:ext cx="1512782" cy="15127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652573">
            <a:off x="16266732" y="8603669"/>
            <a:ext cx="1919013" cy="1266548"/>
          </a:xfrm>
          <a:custGeom>
            <a:avLst/>
            <a:gdLst/>
            <a:ahLst/>
            <a:cxnLst/>
            <a:rect r="r" b="b" t="t" l="l"/>
            <a:pathLst>
              <a:path h="1266548" w="1919013">
                <a:moveTo>
                  <a:pt x="0" y="0"/>
                </a:moveTo>
                <a:lnTo>
                  <a:pt x="1919012" y="0"/>
                </a:lnTo>
                <a:lnTo>
                  <a:pt x="1919012" y="1266548"/>
                </a:lnTo>
                <a:lnTo>
                  <a:pt x="0" y="1266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882728">
            <a:off x="784516" y="3453203"/>
            <a:ext cx="1004123" cy="706652"/>
          </a:xfrm>
          <a:custGeom>
            <a:avLst/>
            <a:gdLst/>
            <a:ahLst/>
            <a:cxnLst/>
            <a:rect r="r" b="b" t="t" l="l"/>
            <a:pathLst>
              <a:path h="706652" w="1004123">
                <a:moveTo>
                  <a:pt x="0" y="0"/>
                </a:moveTo>
                <a:lnTo>
                  <a:pt x="1004123" y="0"/>
                </a:lnTo>
                <a:lnTo>
                  <a:pt x="1004123" y="706652"/>
                </a:lnTo>
                <a:lnTo>
                  <a:pt x="0" y="706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925584">
            <a:off x="707247" y="194703"/>
            <a:ext cx="1737264" cy="1146595"/>
          </a:xfrm>
          <a:custGeom>
            <a:avLst/>
            <a:gdLst/>
            <a:ahLst/>
            <a:cxnLst/>
            <a:rect r="r" b="b" t="t" l="l"/>
            <a:pathLst>
              <a:path h="1146595" w="1737264">
                <a:moveTo>
                  <a:pt x="1737264" y="0"/>
                </a:moveTo>
                <a:lnTo>
                  <a:pt x="0" y="0"/>
                </a:lnTo>
                <a:lnTo>
                  <a:pt x="0" y="1146594"/>
                </a:lnTo>
                <a:lnTo>
                  <a:pt x="1737264" y="1146594"/>
                </a:lnTo>
                <a:lnTo>
                  <a:pt x="17372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397496">
            <a:off x="16099852" y="170125"/>
            <a:ext cx="1170204" cy="1502670"/>
          </a:xfrm>
          <a:custGeom>
            <a:avLst/>
            <a:gdLst/>
            <a:ahLst/>
            <a:cxnLst/>
            <a:rect r="r" b="b" t="t" l="l"/>
            <a:pathLst>
              <a:path h="1502670" w="1170204">
                <a:moveTo>
                  <a:pt x="0" y="0"/>
                </a:moveTo>
                <a:lnTo>
                  <a:pt x="1170204" y="0"/>
                </a:lnTo>
                <a:lnTo>
                  <a:pt x="1170204" y="1502670"/>
                </a:lnTo>
                <a:lnTo>
                  <a:pt x="0" y="15026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108398">
            <a:off x="17608037" y="4790612"/>
            <a:ext cx="901949" cy="705775"/>
          </a:xfrm>
          <a:custGeom>
            <a:avLst/>
            <a:gdLst/>
            <a:ahLst/>
            <a:cxnLst/>
            <a:rect r="r" b="b" t="t" l="l"/>
            <a:pathLst>
              <a:path h="705775" w="901949">
                <a:moveTo>
                  <a:pt x="0" y="0"/>
                </a:moveTo>
                <a:lnTo>
                  <a:pt x="901950" y="0"/>
                </a:lnTo>
                <a:lnTo>
                  <a:pt x="901950" y="705776"/>
                </a:lnTo>
                <a:lnTo>
                  <a:pt x="0" y="705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61910" y="2427450"/>
            <a:ext cx="4354516" cy="6356958"/>
          </a:xfrm>
          <a:custGeom>
            <a:avLst/>
            <a:gdLst/>
            <a:ahLst/>
            <a:cxnLst/>
            <a:rect r="r" b="b" t="t" l="l"/>
            <a:pathLst>
              <a:path h="6356958" w="4354516">
                <a:moveTo>
                  <a:pt x="0" y="0"/>
                </a:moveTo>
                <a:lnTo>
                  <a:pt x="4354517" y="0"/>
                </a:lnTo>
                <a:lnTo>
                  <a:pt x="4354517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486015" y="2442622"/>
            <a:ext cx="4744916" cy="4027248"/>
          </a:xfrm>
          <a:custGeom>
            <a:avLst/>
            <a:gdLst/>
            <a:ahLst/>
            <a:cxnLst/>
            <a:rect r="r" b="b" t="t" l="l"/>
            <a:pathLst>
              <a:path h="4027248" w="4744916">
                <a:moveTo>
                  <a:pt x="0" y="0"/>
                </a:moveTo>
                <a:lnTo>
                  <a:pt x="4744916" y="0"/>
                </a:lnTo>
                <a:lnTo>
                  <a:pt x="4744916" y="4027248"/>
                </a:lnTo>
                <a:lnTo>
                  <a:pt x="0" y="40272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500520" y="2427450"/>
            <a:ext cx="6018939" cy="4491633"/>
          </a:xfrm>
          <a:custGeom>
            <a:avLst/>
            <a:gdLst/>
            <a:ahLst/>
            <a:cxnLst/>
            <a:rect r="r" b="b" t="t" l="l"/>
            <a:pathLst>
              <a:path h="4491633" w="6018939">
                <a:moveTo>
                  <a:pt x="0" y="0"/>
                </a:moveTo>
                <a:lnTo>
                  <a:pt x="6018939" y="0"/>
                </a:lnTo>
                <a:lnTo>
                  <a:pt x="6018939" y="4491633"/>
                </a:lnTo>
                <a:lnTo>
                  <a:pt x="0" y="44916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861910" y="8889819"/>
            <a:ext cx="4453868" cy="72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  <a:spcBef>
                <a:spcPct val="0"/>
              </a:spcBef>
            </a:pPr>
            <a:r>
              <a:rPr lang="en-US" b="true" sz="1495" spc="2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PD CONTROLLEROVERALL SYSTEM WORKFLOW</a:t>
            </a:r>
          </a:p>
          <a:p>
            <a:pPr algn="ctr">
              <a:lnSpc>
                <a:spcPts val="1974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486015" y="6670076"/>
            <a:ext cx="4763080" cy="24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  <a:spcBef>
                <a:spcPct val="0"/>
              </a:spcBef>
            </a:pPr>
            <a:r>
              <a:rPr lang="en-US" b="true" sz="1534" spc="2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SHAPE CLASSIFICATION ALGORITHM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90468" y="7148597"/>
            <a:ext cx="2101698" cy="2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b="true" sz="1499" spc="2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PD CONTROLLER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41774" y="2959729"/>
            <a:ext cx="4204453" cy="602731"/>
            <a:chOff x="0" y="0"/>
            <a:chExt cx="5598105" cy="802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98105" cy="802518"/>
            </a:xfrm>
            <a:custGeom>
              <a:avLst/>
              <a:gdLst/>
              <a:ahLst/>
              <a:cxnLst/>
              <a:rect r="r" b="b" t="t" l="l"/>
              <a:pathLst>
                <a:path h="802518" w="5598105">
                  <a:moveTo>
                    <a:pt x="0" y="0"/>
                  </a:moveTo>
                  <a:lnTo>
                    <a:pt x="5598105" y="0"/>
                  </a:lnTo>
                  <a:lnTo>
                    <a:pt x="5598105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598105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56432" y="2641201"/>
            <a:ext cx="4204453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Conclusion 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-1483929">
            <a:off x="14171848" y="471711"/>
            <a:ext cx="1387564" cy="2206832"/>
            <a:chOff x="0" y="0"/>
            <a:chExt cx="709638" cy="1128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9638" cy="1128634"/>
            </a:xfrm>
            <a:custGeom>
              <a:avLst/>
              <a:gdLst/>
              <a:ahLst/>
              <a:cxnLst/>
              <a:rect r="r" b="b" t="t" l="l"/>
              <a:pathLst>
                <a:path h="1128634" w="709638">
                  <a:moveTo>
                    <a:pt x="0" y="0"/>
                  </a:moveTo>
                  <a:lnTo>
                    <a:pt x="709638" y="0"/>
                  </a:lnTo>
                  <a:lnTo>
                    <a:pt x="709638" y="1128634"/>
                  </a:lnTo>
                  <a:lnTo>
                    <a:pt x="0" y="1128634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09638" cy="1157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307493">
            <a:off x="1131679" y="7035044"/>
            <a:ext cx="1892312" cy="3008196"/>
            <a:chOff x="0" y="0"/>
            <a:chExt cx="600944" cy="9553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0944" cy="955317"/>
            </a:xfrm>
            <a:custGeom>
              <a:avLst/>
              <a:gdLst/>
              <a:ahLst/>
              <a:cxnLst/>
              <a:rect r="r" b="b" t="t" l="l"/>
              <a:pathLst>
                <a:path h="955317" w="600944">
                  <a:moveTo>
                    <a:pt x="0" y="0"/>
                  </a:moveTo>
                  <a:lnTo>
                    <a:pt x="600944" y="0"/>
                  </a:lnTo>
                  <a:lnTo>
                    <a:pt x="600944" y="955317"/>
                  </a:lnTo>
                  <a:lnTo>
                    <a:pt x="0" y="955317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00944" cy="983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72684">
            <a:off x="14759489" y="7886512"/>
            <a:ext cx="1618591" cy="2571238"/>
            <a:chOff x="0" y="0"/>
            <a:chExt cx="812800" cy="12911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1506127">
            <a:off x="334710" y="1113373"/>
            <a:ext cx="1806392" cy="2869572"/>
            <a:chOff x="0" y="0"/>
            <a:chExt cx="812800" cy="1291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832335">
            <a:off x="16752129" y="2717223"/>
            <a:ext cx="1748119" cy="2777001"/>
            <a:chOff x="0" y="0"/>
            <a:chExt cx="812800" cy="12911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937771">
            <a:off x="16858390" y="3055713"/>
            <a:ext cx="1535597" cy="1013494"/>
          </a:xfrm>
          <a:custGeom>
            <a:avLst/>
            <a:gdLst/>
            <a:ahLst/>
            <a:cxnLst/>
            <a:rect r="r" b="b" t="t" l="l"/>
            <a:pathLst>
              <a:path h="1013494" w="1535597">
                <a:moveTo>
                  <a:pt x="0" y="0"/>
                </a:moveTo>
                <a:lnTo>
                  <a:pt x="1535597" y="0"/>
                </a:lnTo>
                <a:lnTo>
                  <a:pt x="1535597" y="1013494"/>
                </a:lnTo>
                <a:lnTo>
                  <a:pt x="0" y="1013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772684">
            <a:off x="14650917" y="8006596"/>
            <a:ext cx="1210128" cy="1001381"/>
          </a:xfrm>
          <a:custGeom>
            <a:avLst/>
            <a:gdLst/>
            <a:ahLst/>
            <a:cxnLst/>
            <a:rect r="r" b="b" t="t" l="l"/>
            <a:pathLst>
              <a:path h="1001381" w="1210128">
                <a:moveTo>
                  <a:pt x="0" y="0"/>
                </a:moveTo>
                <a:lnTo>
                  <a:pt x="1210128" y="0"/>
                </a:lnTo>
                <a:lnTo>
                  <a:pt x="1210128" y="1001380"/>
                </a:lnTo>
                <a:lnTo>
                  <a:pt x="0" y="100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506127">
            <a:off x="1061907" y="1457300"/>
            <a:ext cx="1068795" cy="884428"/>
          </a:xfrm>
          <a:custGeom>
            <a:avLst/>
            <a:gdLst/>
            <a:ahLst/>
            <a:cxnLst/>
            <a:rect r="r" b="b" t="t" l="l"/>
            <a:pathLst>
              <a:path h="884428" w="1068795">
                <a:moveTo>
                  <a:pt x="0" y="0"/>
                </a:moveTo>
                <a:lnTo>
                  <a:pt x="1068795" y="0"/>
                </a:lnTo>
                <a:lnTo>
                  <a:pt x="1068795" y="884429"/>
                </a:lnTo>
                <a:lnTo>
                  <a:pt x="0" y="884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1152975">
            <a:off x="1710294" y="7428307"/>
            <a:ext cx="1295994" cy="912056"/>
          </a:xfrm>
          <a:custGeom>
            <a:avLst/>
            <a:gdLst/>
            <a:ahLst/>
            <a:cxnLst/>
            <a:rect r="r" b="b" t="t" l="l"/>
            <a:pathLst>
              <a:path h="912056" w="1295994">
                <a:moveTo>
                  <a:pt x="0" y="0"/>
                </a:moveTo>
                <a:lnTo>
                  <a:pt x="1295995" y="0"/>
                </a:lnTo>
                <a:lnTo>
                  <a:pt x="1295995" y="912056"/>
                </a:lnTo>
                <a:lnTo>
                  <a:pt x="0" y="912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1397496">
            <a:off x="14094577" y="630653"/>
            <a:ext cx="919934" cy="1181296"/>
          </a:xfrm>
          <a:custGeom>
            <a:avLst/>
            <a:gdLst/>
            <a:ahLst/>
            <a:cxnLst/>
            <a:rect r="r" b="b" t="t" l="l"/>
            <a:pathLst>
              <a:path h="1181296" w="919934">
                <a:moveTo>
                  <a:pt x="0" y="0"/>
                </a:moveTo>
                <a:lnTo>
                  <a:pt x="919935" y="0"/>
                </a:lnTo>
                <a:lnTo>
                  <a:pt x="919935" y="1181296"/>
                </a:lnTo>
                <a:lnTo>
                  <a:pt x="0" y="11812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907554" y="4192500"/>
            <a:ext cx="12302210" cy="403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Successfully de</a:t>
            </a: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veloped an intuitive h</a:t>
            </a: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and-gesture control system for TurtleSim.</a:t>
            </a:r>
          </a:p>
          <a:p>
            <a:pPr algn="ctr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Achieved 85-90% recognit</a:t>
            </a: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ion accuracy under normal lighting.</a:t>
            </a:r>
          </a:p>
          <a:p>
            <a:pPr algn="ctr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Demonstrated a complete perception–processing–action loop using only open-source tools.</a:t>
            </a:r>
          </a:p>
          <a:p>
            <a:pPr algn="ctr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system is simple, cost-effective, and suitable for robotics education.</a:t>
            </a:r>
          </a:p>
          <a:p>
            <a:pPr algn="ctr">
              <a:lnSpc>
                <a:spcPts val="402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43096" y="7844868"/>
            <a:ext cx="1813283" cy="2442132"/>
          </a:xfrm>
          <a:custGeom>
            <a:avLst/>
            <a:gdLst/>
            <a:ahLst/>
            <a:cxnLst/>
            <a:rect r="r" b="b" t="t" l="l"/>
            <a:pathLst>
              <a:path h="2442132" w="1813283">
                <a:moveTo>
                  <a:pt x="0" y="0"/>
                </a:moveTo>
                <a:lnTo>
                  <a:pt x="1813283" y="0"/>
                </a:lnTo>
                <a:lnTo>
                  <a:pt x="1813283" y="2442132"/>
                </a:lnTo>
                <a:lnTo>
                  <a:pt x="0" y="2442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5359" y="2617829"/>
            <a:ext cx="3088866" cy="3442638"/>
          </a:xfrm>
          <a:custGeom>
            <a:avLst/>
            <a:gdLst/>
            <a:ahLst/>
            <a:cxnLst/>
            <a:rect r="r" b="b" t="t" l="l"/>
            <a:pathLst>
              <a:path h="3442638" w="3088866">
                <a:moveTo>
                  <a:pt x="0" y="0"/>
                </a:moveTo>
                <a:lnTo>
                  <a:pt x="3088866" y="0"/>
                </a:lnTo>
                <a:lnTo>
                  <a:pt x="3088866" y="3442638"/>
                </a:lnTo>
                <a:lnTo>
                  <a:pt x="0" y="344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74" r="-17469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17442" y="2744126"/>
            <a:ext cx="3088866" cy="3442638"/>
          </a:xfrm>
          <a:custGeom>
            <a:avLst/>
            <a:gdLst/>
            <a:ahLst/>
            <a:cxnLst/>
            <a:rect r="r" b="b" t="t" l="l"/>
            <a:pathLst>
              <a:path h="3442638" w="3088866">
                <a:moveTo>
                  <a:pt x="0" y="0"/>
                </a:moveTo>
                <a:lnTo>
                  <a:pt x="3088866" y="0"/>
                </a:lnTo>
                <a:lnTo>
                  <a:pt x="3088866" y="3442639"/>
                </a:lnTo>
                <a:lnTo>
                  <a:pt x="0" y="3442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4692" t="-1574" r="0" b="-40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343085" y="1449499"/>
            <a:ext cx="11213305" cy="6924746"/>
            <a:chOff x="0" y="0"/>
            <a:chExt cx="4715242" cy="29118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15242" cy="2911885"/>
            </a:xfrm>
            <a:custGeom>
              <a:avLst/>
              <a:gdLst/>
              <a:ahLst/>
              <a:cxnLst/>
              <a:rect r="r" b="b" t="t" l="l"/>
              <a:pathLst>
                <a:path h="2911885" w="4715242">
                  <a:moveTo>
                    <a:pt x="0" y="0"/>
                  </a:moveTo>
                  <a:lnTo>
                    <a:pt x="4715242" y="0"/>
                  </a:lnTo>
                  <a:lnTo>
                    <a:pt x="4715242" y="2911885"/>
                  </a:lnTo>
                  <a:lnTo>
                    <a:pt x="0" y="2911885"/>
                  </a:lnTo>
                  <a:close/>
                </a:path>
              </a:pathLst>
            </a:custGeom>
            <a:solidFill>
              <a:srgbClr val="BDC8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715242" cy="2940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12493" y="4779835"/>
            <a:ext cx="10063014" cy="67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7"/>
              </a:lnSpc>
              <a:spcBef>
                <a:spcPct val="0"/>
              </a:spcBef>
            </a:pPr>
            <a:r>
              <a:rPr lang="en-US" b="true" sz="4149" spc="7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FOR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DAHKSWpQmbA</dc:identifier>
  <dcterms:modified xsi:type="dcterms:W3CDTF">2011-08-01T06:04:30Z</dcterms:modified>
  <cp:revision>1</cp:revision>
  <dc:title>A Control System for the TurtleSim Robot Simulator Based on Hand Gesture Recognition for Drawing Geometric Shapes</dc:title>
</cp:coreProperties>
</file>