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eague Spartan" charset="1" panose="00000800000000000000"/>
      <p:regular r:id="rId17"/>
    </p:embeddedFont>
    <p:embeddedFont>
      <p:font typeface="Poppins" charset="1" panose="00000500000000000000"/>
      <p:regular r:id="rId18"/>
    </p:embeddedFont>
    <p:embeddedFont>
      <p:font typeface="Poppins Bold" charset="1" panose="00000800000000000000"/>
      <p:regular r:id="rId19"/>
    </p:embeddedFont>
    <p:embeddedFont>
      <p:font typeface="Open Sauce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14290601" y="309818"/>
            <a:ext cx="2968699" cy="10287000"/>
            <a:chOff x="0" y="0"/>
            <a:chExt cx="781880" cy="2709333"/>
          </a:xfrm>
        </p:grpSpPr>
        <p:sp>
          <p:nvSpPr>
            <p:cNvPr name="Freeform 3" id="3"/>
            <p:cNvSpPr/>
            <p:nvPr/>
          </p:nvSpPr>
          <p:spPr>
            <a:xfrm flipH="false" flipV="false" rot="0">
              <a:off x="0" y="0"/>
              <a:ext cx="781880" cy="2709333"/>
            </a:xfrm>
            <a:custGeom>
              <a:avLst/>
              <a:gdLst/>
              <a:ahLst/>
              <a:cxnLst/>
              <a:rect r="r" b="b" t="t" l="l"/>
              <a:pathLst>
                <a:path h="2709333" w="781880">
                  <a:moveTo>
                    <a:pt x="26078" y="0"/>
                  </a:moveTo>
                  <a:lnTo>
                    <a:pt x="755801" y="0"/>
                  </a:lnTo>
                  <a:cubicBezTo>
                    <a:pt x="762718" y="0"/>
                    <a:pt x="769351" y="2748"/>
                    <a:pt x="774241" y="7638"/>
                  </a:cubicBezTo>
                  <a:cubicBezTo>
                    <a:pt x="779132" y="12529"/>
                    <a:pt x="781880" y="19162"/>
                    <a:pt x="781880" y="26078"/>
                  </a:cubicBezTo>
                  <a:lnTo>
                    <a:pt x="781880" y="2683255"/>
                  </a:lnTo>
                  <a:cubicBezTo>
                    <a:pt x="781880" y="2690171"/>
                    <a:pt x="779132" y="2696804"/>
                    <a:pt x="774241" y="2701695"/>
                  </a:cubicBezTo>
                  <a:cubicBezTo>
                    <a:pt x="769351" y="2706586"/>
                    <a:pt x="762718" y="2709333"/>
                    <a:pt x="755801" y="2709333"/>
                  </a:cubicBezTo>
                  <a:lnTo>
                    <a:pt x="26078" y="2709333"/>
                  </a:lnTo>
                  <a:cubicBezTo>
                    <a:pt x="19162" y="2709333"/>
                    <a:pt x="12529" y="2706586"/>
                    <a:pt x="7638" y="2701695"/>
                  </a:cubicBezTo>
                  <a:cubicBezTo>
                    <a:pt x="2748" y="2696804"/>
                    <a:pt x="0" y="2690171"/>
                    <a:pt x="0" y="2683255"/>
                  </a:cubicBezTo>
                  <a:lnTo>
                    <a:pt x="0" y="26078"/>
                  </a:lnTo>
                  <a:cubicBezTo>
                    <a:pt x="0" y="19162"/>
                    <a:pt x="2748" y="12529"/>
                    <a:pt x="7638" y="7638"/>
                  </a:cubicBezTo>
                  <a:cubicBezTo>
                    <a:pt x="12529" y="2748"/>
                    <a:pt x="19162" y="0"/>
                    <a:pt x="26078" y="0"/>
                  </a:cubicBezTo>
                  <a:close/>
                </a:path>
              </a:pathLst>
            </a:custGeom>
            <a:solidFill>
              <a:srgbClr val="969385"/>
            </a:solidFill>
            <a:ln cap="sq">
              <a:noFill/>
              <a:prstDash val="solid"/>
              <a:miter/>
            </a:ln>
          </p:spPr>
        </p:sp>
        <p:sp>
          <p:nvSpPr>
            <p:cNvPr name="TextBox 4" id="4"/>
            <p:cNvSpPr txBox="true"/>
            <p:nvPr/>
          </p:nvSpPr>
          <p:spPr>
            <a:xfrm>
              <a:off x="0" y="28575"/>
              <a:ext cx="781880" cy="2680758"/>
            </a:xfrm>
            <a:prstGeom prst="rect">
              <a:avLst/>
            </a:prstGeom>
          </p:spPr>
          <p:txBody>
            <a:bodyPr anchor="ctr" rtlCol="false" tIns="50800" lIns="50800" bIns="50800" rIns="50800"/>
            <a:lstStyle/>
            <a:p>
              <a:pPr algn="ctr">
                <a:lnSpc>
                  <a:spcPts val="1134"/>
                </a:lnSpc>
              </a:pPr>
            </a:p>
          </p:txBody>
        </p:sp>
      </p:grpSp>
      <p:grpSp>
        <p:nvGrpSpPr>
          <p:cNvPr name="Group 5" id="5"/>
          <p:cNvGrpSpPr/>
          <p:nvPr/>
        </p:nvGrpSpPr>
        <p:grpSpPr>
          <a:xfrm rot="0">
            <a:off x="9144000" y="7620909"/>
            <a:ext cx="3034240" cy="1346663"/>
            <a:chOff x="0" y="0"/>
            <a:chExt cx="799141" cy="354677"/>
          </a:xfrm>
        </p:grpSpPr>
        <p:sp>
          <p:nvSpPr>
            <p:cNvPr name="Freeform 6" id="6"/>
            <p:cNvSpPr/>
            <p:nvPr/>
          </p:nvSpPr>
          <p:spPr>
            <a:xfrm flipH="false" flipV="false" rot="0">
              <a:off x="0" y="0"/>
              <a:ext cx="799141" cy="354677"/>
            </a:xfrm>
            <a:custGeom>
              <a:avLst/>
              <a:gdLst/>
              <a:ahLst/>
              <a:cxnLst/>
              <a:rect r="r" b="b" t="t" l="l"/>
              <a:pathLst>
                <a:path h="354677" w="799141">
                  <a:moveTo>
                    <a:pt x="25515" y="0"/>
                  </a:moveTo>
                  <a:lnTo>
                    <a:pt x="773626" y="0"/>
                  </a:lnTo>
                  <a:cubicBezTo>
                    <a:pt x="780393" y="0"/>
                    <a:pt x="786883" y="2688"/>
                    <a:pt x="791668" y="7473"/>
                  </a:cubicBezTo>
                  <a:cubicBezTo>
                    <a:pt x="796453" y="12258"/>
                    <a:pt x="799141" y="18748"/>
                    <a:pt x="799141" y="25515"/>
                  </a:cubicBezTo>
                  <a:lnTo>
                    <a:pt x="799141" y="329162"/>
                  </a:lnTo>
                  <a:cubicBezTo>
                    <a:pt x="799141" y="343253"/>
                    <a:pt x="787718" y="354677"/>
                    <a:pt x="773626" y="354677"/>
                  </a:cubicBezTo>
                  <a:lnTo>
                    <a:pt x="25515" y="354677"/>
                  </a:lnTo>
                  <a:cubicBezTo>
                    <a:pt x="18748" y="354677"/>
                    <a:pt x="12258" y="351989"/>
                    <a:pt x="7473" y="347204"/>
                  </a:cubicBezTo>
                  <a:cubicBezTo>
                    <a:pt x="2688" y="342419"/>
                    <a:pt x="0" y="335929"/>
                    <a:pt x="0" y="329162"/>
                  </a:cubicBezTo>
                  <a:lnTo>
                    <a:pt x="0" y="25515"/>
                  </a:lnTo>
                  <a:cubicBezTo>
                    <a:pt x="0" y="18748"/>
                    <a:pt x="2688" y="12258"/>
                    <a:pt x="7473" y="7473"/>
                  </a:cubicBezTo>
                  <a:cubicBezTo>
                    <a:pt x="12258" y="2688"/>
                    <a:pt x="18748" y="0"/>
                    <a:pt x="25515" y="0"/>
                  </a:cubicBezTo>
                  <a:close/>
                </a:path>
              </a:pathLst>
            </a:custGeom>
            <a:solidFill>
              <a:srgbClr val="969385"/>
            </a:solidFill>
          </p:spPr>
        </p:sp>
        <p:sp>
          <p:nvSpPr>
            <p:cNvPr name="TextBox 7" id="7"/>
            <p:cNvSpPr txBox="true"/>
            <p:nvPr/>
          </p:nvSpPr>
          <p:spPr>
            <a:xfrm>
              <a:off x="0" y="28575"/>
              <a:ext cx="799141" cy="326102"/>
            </a:xfrm>
            <a:prstGeom prst="rect">
              <a:avLst/>
            </a:prstGeom>
          </p:spPr>
          <p:txBody>
            <a:bodyPr anchor="ctr" rtlCol="false" tIns="50800" lIns="50800" bIns="50800" rIns="50800"/>
            <a:lstStyle/>
            <a:p>
              <a:pPr algn="ctr">
                <a:lnSpc>
                  <a:spcPts val="1134"/>
                </a:lnSpc>
              </a:pPr>
            </a:p>
          </p:txBody>
        </p:sp>
      </p:grpSp>
      <p:sp>
        <p:nvSpPr>
          <p:cNvPr name="Freeform 8" id="8"/>
          <p:cNvSpPr/>
          <p:nvPr/>
        </p:nvSpPr>
        <p:spPr>
          <a:xfrm flipH="false" flipV="false" rot="0">
            <a:off x="5652897" y="6935704"/>
            <a:ext cx="995933" cy="995933"/>
          </a:xfrm>
          <a:custGeom>
            <a:avLst/>
            <a:gdLst/>
            <a:ahLst/>
            <a:cxnLst/>
            <a:rect r="r" b="b" t="t" l="l"/>
            <a:pathLst>
              <a:path h="995933" w="995933">
                <a:moveTo>
                  <a:pt x="0" y="0"/>
                </a:moveTo>
                <a:lnTo>
                  <a:pt x="995932" y="0"/>
                </a:lnTo>
                <a:lnTo>
                  <a:pt x="995932" y="995933"/>
                </a:lnTo>
                <a:lnTo>
                  <a:pt x="0" y="9959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579110" y="439416"/>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484194" y="1119542"/>
            <a:ext cx="5705853" cy="6463267"/>
          </a:xfrm>
          <a:custGeom>
            <a:avLst/>
            <a:gdLst/>
            <a:ahLst/>
            <a:cxnLst/>
            <a:rect r="r" b="b" t="t" l="l"/>
            <a:pathLst>
              <a:path h="6463267" w="5705853">
                <a:moveTo>
                  <a:pt x="0" y="0"/>
                </a:moveTo>
                <a:lnTo>
                  <a:pt x="5705853" y="0"/>
                </a:lnTo>
                <a:lnTo>
                  <a:pt x="5705853" y="6463267"/>
                </a:lnTo>
                <a:lnTo>
                  <a:pt x="0" y="6463267"/>
                </a:lnTo>
                <a:lnTo>
                  <a:pt x="0" y="0"/>
                </a:lnTo>
                <a:close/>
              </a:path>
            </a:pathLst>
          </a:custGeom>
          <a:blipFill>
            <a:blip r:embed="rId6"/>
            <a:stretch>
              <a:fillRect l="0" t="0" r="0" b="0"/>
            </a:stretch>
          </a:blipFill>
        </p:spPr>
      </p:sp>
      <p:sp>
        <p:nvSpPr>
          <p:cNvPr name="TextBox 11" id="11"/>
          <p:cNvSpPr txBox="true"/>
          <p:nvPr/>
        </p:nvSpPr>
        <p:spPr>
          <a:xfrm rot="0">
            <a:off x="2037580" y="2883742"/>
            <a:ext cx="6734286" cy="1248707"/>
          </a:xfrm>
          <a:prstGeom prst="rect">
            <a:avLst/>
          </a:prstGeom>
        </p:spPr>
        <p:txBody>
          <a:bodyPr anchor="t" rtlCol="false" tIns="0" lIns="0" bIns="0" rIns="0">
            <a:spAutoFit/>
          </a:bodyPr>
          <a:lstStyle/>
          <a:p>
            <a:pPr algn="l">
              <a:lnSpc>
                <a:spcPts val="9454"/>
              </a:lnSpc>
            </a:pPr>
            <a:r>
              <a:rPr lang="en-US" sz="9454" spc="-614">
                <a:solidFill>
                  <a:srgbClr val="9E3327"/>
                </a:solidFill>
                <a:latin typeface="League Spartan"/>
                <a:ea typeface="League Spartan"/>
                <a:cs typeface="League Spartan"/>
                <a:sym typeface="League Spartan"/>
              </a:rPr>
              <a:t>LINE</a:t>
            </a:r>
          </a:p>
        </p:txBody>
      </p:sp>
      <p:sp>
        <p:nvSpPr>
          <p:cNvPr name="TextBox 12" id="12"/>
          <p:cNvSpPr txBox="true"/>
          <p:nvPr/>
        </p:nvSpPr>
        <p:spPr>
          <a:xfrm rot="0">
            <a:off x="9334111" y="7835516"/>
            <a:ext cx="2654018" cy="249392"/>
          </a:xfrm>
          <a:prstGeom prst="rect">
            <a:avLst/>
          </a:prstGeom>
        </p:spPr>
        <p:txBody>
          <a:bodyPr anchor="t" rtlCol="false" tIns="0" lIns="0" bIns="0" rIns="0">
            <a:spAutoFit/>
          </a:bodyPr>
          <a:lstStyle/>
          <a:p>
            <a:pPr algn="ctr">
              <a:lnSpc>
                <a:spcPts val="1638"/>
              </a:lnSpc>
            </a:pPr>
            <a:r>
              <a:rPr lang="en-US" sz="2022" spc="-40">
                <a:solidFill>
                  <a:srgbClr val="050B04"/>
                </a:solidFill>
                <a:latin typeface="Poppins"/>
                <a:ea typeface="Poppins"/>
                <a:cs typeface="Poppins"/>
                <a:sym typeface="Poppins"/>
              </a:rPr>
              <a:t>Presented By</a:t>
            </a:r>
          </a:p>
        </p:txBody>
      </p:sp>
      <p:sp>
        <p:nvSpPr>
          <p:cNvPr name="TextBox 13" id="13"/>
          <p:cNvSpPr txBox="true"/>
          <p:nvPr/>
        </p:nvSpPr>
        <p:spPr>
          <a:xfrm rot="0">
            <a:off x="9144000" y="8176025"/>
            <a:ext cx="3038999" cy="590427"/>
          </a:xfrm>
          <a:prstGeom prst="rect">
            <a:avLst/>
          </a:prstGeom>
        </p:spPr>
        <p:txBody>
          <a:bodyPr anchor="t" rtlCol="false" tIns="0" lIns="0" bIns="0" rIns="0">
            <a:spAutoFit/>
          </a:bodyPr>
          <a:lstStyle/>
          <a:p>
            <a:pPr algn="ctr">
              <a:lnSpc>
                <a:spcPts val="1474"/>
              </a:lnSpc>
            </a:pPr>
            <a:r>
              <a:rPr lang="en-US" b="true" sz="1820" spc="-36">
                <a:solidFill>
                  <a:srgbClr val="050B04"/>
                </a:solidFill>
                <a:latin typeface="Poppins Bold"/>
                <a:ea typeface="Poppins Bold"/>
                <a:cs typeface="Poppins Bold"/>
                <a:sym typeface="Poppins Bold"/>
              </a:rPr>
              <a:t>Ibraim Aidana</a:t>
            </a:r>
          </a:p>
          <a:p>
            <a:pPr algn="ctr">
              <a:lnSpc>
                <a:spcPts val="1474"/>
              </a:lnSpc>
            </a:pPr>
            <a:r>
              <a:rPr lang="en-US" b="true" sz="1820" spc="-36">
                <a:solidFill>
                  <a:srgbClr val="050B04"/>
                </a:solidFill>
                <a:latin typeface="Poppins Bold"/>
                <a:ea typeface="Poppins Bold"/>
                <a:cs typeface="Poppins Bold"/>
                <a:sym typeface="Poppins Bold"/>
              </a:rPr>
              <a:t>Maratova Aisulu</a:t>
            </a:r>
          </a:p>
          <a:p>
            <a:pPr algn="ctr">
              <a:lnSpc>
                <a:spcPts val="1474"/>
              </a:lnSpc>
            </a:pPr>
            <a:r>
              <a:rPr lang="en-US" b="true" sz="1820" spc="-36">
                <a:solidFill>
                  <a:srgbClr val="050B04"/>
                </a:solidFill>
                <a:latin typeface="Poppins Bold"/>
                <a:ea typeface="Poppins Bold"/>
                <a:cs typeface="Poppins Bold"/>
                <a:sym typeface="Poppins Bold"/>
              </a:rPr>
              <a:t>Aimyrzakyzy Shugyla</a:t>
            </a:r>
          </a:p>
        </p:txBody>
      </p:sp>
      <p:sp>
        <p:nvSpPr>
          <p:cNvPr name="TextBox 14" id="14"/>
          <p:cNvSpPr txBox="true"/>
          <p:nvPr/>
        </p:nvSpPr>
        <p:spPr>
          <a:xfrm rot="0">
            <a:off x="2037580" y="4179014"/>
            <a:ext cx="6744090" cy="1149340"/>
          </a:xfrm>
          <a:prstGeom prst="rect">
            <a:avLst/>
          </a:prstGeom>
        </p:spPr>
        <p:txBody>
          <a:bodyPr anchor="t" rtlCol="false" tIns="0" lIns="0" bIns="0" rIns="0">
            <a:spAutoFit/>
          </a:bodyPr>
          <a:lstStyle/>
          <a:p>
            <a:pPr algn="l">
              <a:lnSpc>
                <a:spcPts val="8676"/>
              </a:lnSpc>
            </a:pPr>
            <a:r>
              <a:rPr lang="en-US" sz="8676" spc="-563">
                <a:solidFill>
                  <a:srgbClr val="2D661F"/>
                </a:solidFill>
                <a:latin typeface="League Spartan"/>
                <a:ea typeface="League Spartan"/>
                <a:cs typeface="League Spartan"/>
                <a:sym typeface="League Spartan"/>
              </a:rPr>
              <a:t>FOLLOWING</a:t>
            </a:r>
          </a:p>
        </p:txBody>
      </p:sp>
      <p:sp>
        <p:nvSpPr>
          <p:cNvPr name="TextBox 15" id="15"/>
          <p:cNvSpPr txBox="true"/>
          <p:nvPr/>
        </p:nvSpPr>
        <p:spPr>
          <a:xfrm rot="0">
            <a:off x="2037580" y="5284551"/>
            <a:ext cx="6744090" cy="1043308"/>
          </a:xfrm>
          <a:prstGeom prst="rect">
            <a:avLst/>
          </a:prstGeom>
        </p:spPr>
        <p:txBody>
          <a:bodyPr anchor="t" rtlCol="false" tIns="0" lIns="0" bIns="0" rIns="0">
            <a:spAutoFit/>
          </a:bodyPr>
          <a:lstStyle/>
          <a:p>
            <a:pPr algn="l">
              <a:lnSpc>
                <a:spcPts val="7855"/>
              </a:lnSpc>
            </a:pPr>
            <a:r>
              <a:rPr lang="en-US" sz="7855" spc="-510">
                <a:solidFill>
                  <a:srgbClr val="9E3327"/>
                </a:solidFill>
                <a:latin typeface="League Spartan"/>
                <a:ea typeface="League Spartan"/>
                <a:cs typeface="League Spartan"/>
                <a:sym typeface="League Spartan"/>
              </a:rPr>
              <a:t>ROBOT</a:t>
            </a:r>
          </a:p>
        </p:txBody>
      </p:sp>
      <p:sp>
        <p:nvSpPr>
          <p:cNvPr name="TextBox 16" id="16"/>
          <p:cNvSpPr txBox="true"/>
          <p:nvPr/>
        </p:nvSpPr>
        <p:spPr>
          <a:xfrm rot="0">
            <a:off x="2552762" y="595808"/>
            <a:ext cx="3598101"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F</a:t>
            </a:r>
            <a:r>
              <a:rPr lang="en-US" b="true" sz="1798" spc="-116">
                <a:solidFill>
                  <a:srgbClr val="969385"/>
                </a:solidFill>
                <a:latin typeface="Open Sauce Bold"/>
                <a:ea typeface="Open Sauce Bold"/>
                <a:cs typeface="Open Sauce Bold"/>
                <a:sym typeface="Open Sauce Bold"/>
              </a:rPr>
              <a:t>INAL PROJECT</a:t>
            </a:r>
          </a:p>
        </p:txBody>
      </p:sp>
      <p:sp>
        <p:nvSpPr>
          <p:cNvPr name="TextBox 17" id="17"/>
          <p:cNvSpPr txBox="true"/>
          <p:nvPr/>
        </p:nvSpPr>
        <p:spPr>
          <a:xfrm rot="0">
            <a:off x="7344949" y="595808"/>
            <a:ext cx="3598101"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a:t>
            </a:r>
            <a:r>
              <a:rPr lang="en-US" b="true" sz="1798" spc="-116">
                <a:solidFill>
                  <a:srgbClr val="969385"/>
                </a:solidFill>
                <a:latin typeface="Open Sauce Bold"/>
                <a:ea typeface="Open Sauce Bold"/>
                <a:cs typeface="Open Sauce Bold"/>
                <a:sym typeface="Open Sauce Bold"/>
              </a:rPr>
              <a:t>ICS COURSE</a:t>
            </a:r>
          </a:p>
        </p:txBody>
      </p:sp>
      <p:sp>
        <p:nvSpPr>
          <p:cNvPr name="TextBox 18" id="18"/>
          <p:cNvSpPr txBox="true"/>
          <p:nvPr/>
        </p:nvSpPr>
        <p:spPr>
          <a:xfrm rot="0">
            <a:off x="553199" y="8020898"/>
            <a:ext cx="2968762" cy="919733"/>
          </a:xfrm>
          <a:prstGeom prst="rect">
            <a:avLst/>
          </a:prstGeom>
        </p:spPr>
        <p:txBody>
          <a:bodyPr anchor="t" rtlCol="false" tIns="0" lIns="0" bIns="0" rIns="0">
            <a:spAutoFit/>
          </a:bodyPr>
          <a:lstStyle/>
          <a:p>
            <a:pPr algn="l">
              <a:lnSpc>
                <a:spcPts val="2267"/>
              </a:lnSpc>
            </a:pPr>
            <a:r>
              <a:rPr lang="en-US" sz="2799" spc="-55">
                <a:solidFill>
                  <a:srgbClr val="969385"/>
                </a:solidFill>
                <a:latin typeface="Poppins"/>
                <a:ea typeface="Poppins"/>
                <a:cs typeface="Poppins"/>
                <a:sym typeface="Poppins"/>
              </a:rPr>
              <a:t>Smart Detection</a:t>
            </a:r>
          </a:p>
          <a:p>
            <a:pPr algn="l">
              <a:lnSpc>
                <a:spcPts val="2267"/>
              </a:lnSpc>
            </a:pPr>
            <a:r>
              <a:rPr lang="en-US" sz="2799" spc="-55">
                <a:solidFill>
                  <a:srgbClr val="969385"/>
                </a:solidFill>
                <a:latin typeface="Poppins"/>
                <a:ea typeface="Poppins"/>
                <a:cs typeface="Poppins"/>
                <a:sym typeface="Poppins"/>
              </a:rPr>
              <a:t> and Automatic</a:t>
            </a:r>
          </a:p>
          <a:p>
            <a:pPr algn="l">
              <a:lnSpc>
                <a:spcPts val="2267"/>
              </a:lnSpc>
            </a:pPr>
            <a:r>
              <a:rPr lang="en-US" sz="2799" spc="-55">
                <a:solidFill>
                  <a:srgbClr val="969385"/>
                </a:solidFill>
                <a:latin typeface="Poppins"/>
                <a:ea typeface="Poppins"/>
                <a:cs typeface="Poppins"/>
                <a:sym typeface="Poppins"/>
              </a:rPr>
              <a:t> Path Following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1038504" y="5189053"/>
            <a:ext cx="8115300" cy="3768903"/>
            <a:chOff x="0" y="0"/>
            <a:chExt cx="2137363" cy="992633"/>
          </a:xfrm>
        </p:grpSpPr>
        <p:sp>
          <p:nvSpPr>
            <p:cNvPr name="Freeform 3" id="3"/>
            <p:cNvSpPr/>
            <p:nvPr/>
          </p:nvSpPr>
          <p:spPr>
            <a:xfrm flipH="false" flipV="false" rot="0">
              <a:off x="0" y="0"/>
              <a:ext cx="2137363" cy="992633"/>
            </a:xfrm>
            <a:custGeom>
              <a:avLst/>
              <a:gdLst/>
              <a:ahLst/>
              <a:cxnLst/>
              <a:rect r="r" b="b" t="t" l="l"/>
              <a:pathLst>
                <a:path h="992633" w="2137363">
                  <a:moveTo>
                    <a:pt x="9540" y="0"/>
                  </a:moveTo>
                  <a:lnTo>
                    <a:pt x="2127823" y="0"/>
                  </a:lnTo>
                  <a:cubicBezTo>
                    <a:pt x="2130353" y="0"/>
                    <a:pt x="2132780" y="1005"/>
                    <a:pt x="2134569" y="2794"/>
                  </a:cubicBezTo>
                  <a:cubicBezTo>
                    <a:pt x="2136358" y="4583"/>
                    <a:pt x="2137363" y="7010"/>
                    <a:pt x="2137363" y="9540"/>
                  </a:cubicBezTo>
                  <a:lnTo>
                    <a:pt x="2137363" y="983093"/>
                  </a:lnTo>
                  <a:cubicBezTo>
                    <a:pt x="2137363" y="988362"/>
                    <a:pt x="2133092" y="992633"/>
                    <a:pt x="2127823" y="992633"/>
                  </a:cubicBezTo>
                  <a:lnTo>
                    <a:pt x="9540" y="992633"/>
                  </a:lnTo>
                  <a:cubicBezTo>
                    <a:pt x="4271" y="992633"/>
                    <a:pt x="0" y="988362"/>
                    <a:pt x="0" y="983093"/>
                  </a:cubicBezTo>
                  <a:lnTo>
                    <a:pt x="0" y="9540"/>
                  </a:lnTo>
                  <a:cubicBezTo>
                    <a:pt x="0" y="4271"/>
                    <a:pt x="4271" y="0"/>
                    <a:pt x="9540" y="0"/>
                  </a:cubicBezTo>
                  <a:close/>
                </a:path>
              </a:pathLst>
            </a:custGeom>
            <a:solidFill>
              <a:srgbClr val="2D661F"/>
            </a:solidFill>
          </p:spPr>
        </p:sp>
        <p:sp>
          <p:nvSpPr>
            <p:cNvPr name="TextBox 4" id="4"/>
            <p:cNvSpPr txBox="true"/>
            <p:nvPr/>
          </p:nvSpPr>
          <p:spPr>
            <a:xfrm>
              <a:off x="0" y="28575"/>
              <a:ext cx="2137363" cy="964058"/>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6959656" y="5666231"/>
            <a:ext cx="1138412" cy="1138412"/>
          </a:xfrm>
          <a:custGeom>
            <a:avLst/>
            <a:gdLst/>
            <a:ahLst/>
            <a:cxnLst/>
            <a:rect r="r" b="b" t="t" l="l"/>
            <a:pathLst>
              <a:path h="1138412" w="1138412">
                <a:moveTo>
                  <a:pt x="0" y="0"/>
                </a:moveTo>
                <a:lnTo>
                  <a:pt x="1138412" y="0"/>
                </a:lnTo>
                <a:lnTo>
                  <a:pt x="1138412" y="1138412"/>
                </a:lnTo>
                <a:lnTo>
                  <a:pt x="0" y="11384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153804" y="5189053"/>
            <a:ext cx="8115300" cy="3768903"/>
            <a:chOff x="0" y="0"/>
            <a:chExt cx="2137363" cy="992633"/>
          </a:xfrm>
        </p:grpSpPr>
        <p:sp>
          <p:nvSpPr>
            <p:cNvPr name="Freeform 7" id="7"/>
            <p:cNvSpPr/>
            <p:nvPr/>
          </p:nvSpPr>
          <p:spPr>
            <a:xfrm flipH="false" flipV="false" rot="0">
              <a:off x="0" y="0"/>
              <a:ext cx="2137363" cy="992633"/>
            </a:xfrm>
            <a:custGeom>
              <a:avLst/>
              <a:gdLst/>
              <a:ahLst/>
              <a:cxnLst/>
              <a:rect r="r" b="b" t="t" l="l"/>
              <a:pathLst>
                <a:path h="992633" w="2137363">
                  <a:moveTo>
                    <a:pt x="9540" y="0"/>
                  </a:moveTo>
                  <a:lnTo>
                    <a:pt x="2127823" y="0"/>
                  </a:lnTo>
                  <a:cubicBezTo>
                    <a:pt x="2130353" y="0"/>
                    <a:pt x="2132780" y="1005"/>
                    <a:pt x="2134569" y="2794"/>
                  </a:cubicBezTo>
                  <a:cubicBezTo>
                    <a:pt x="2136358" y="4583"/>
                    <a:pt x="2137363" y="7010"/>
                    <a:pt x="2137363" y="9540"/>
                  </a:cubicBezTo>
                  <a:lnTo>
                    <a:pt x="2137363" y="983093"/>
                  </a:lnTo>
                  <a:cubicBezTo>
                    <a:pt x="2137363" y="988362"/>
                    <a:pt x="2133092" y="992633"/>
                    <a:pt x="2127823" y="992633"/>
                  </a:cubicBezTo>
                  <a:lnTo>
                    <a:pt x="9540" y="992633"/>
                  </a:lnTo>
                  <a:cubicBezTo>
                    <a:pt x="4271" y="992633"/>
                    <a:pt x="0" y="988362"/>
                    <a:pt x="0" y="983093"/>
                  </a:cubicBezTo>
                  <a:lnTo>
                    <a:pt x="0" y="9540"/>
                  </a:lnTo>
                  <a:cubicBezTo>
                    <a:pt x="0" y="4271"/>
                    <a:pt x="4271" y="0"/>
                    <a:pt x="9540" y="0"/>
                  </a:cubicBezTo>
                  <a:close/>
                </a:path>
              </a:pathLst>
            </a:custGeom>
            <a:solidFill>
              <a:srgbClr val="9E3327"/>
            </a:solidFill>
          </p:spPr>
        </p:sp>
        <p:sp>
          <p:nvSpPr>
            <p:cNvPr name="TextBox 8" id="8"/>
            <p:cNvSpPr txBox="true"/>
            <p:nvPr/>
          </p:nvSpPr>
          <p:spPr>
            <a:xfrm>
              <a:off x="0" y="28575"/>
              <a:ext cx="2137363" cy="964058"/>
            </a:xfrm>
            <a:prstGeom prst="rect">
              <a:avLst/>
            </a:prstGeom>
          </p:spPr>
          <p:txBody>
            <a:bodyPr anchor="ctr" rtlCol="false" tIns="50800" lIns="50800" bIns="50800" rIns="50800"/>
            <a:lstStyle/>
            <a:p>
              <a:pPr algn="ctr">
                <a:lnSpc>
                  <a:spcPts val="1134"/>
                </a:lnSpc>
              </a:pPr>
            </a:p>
          </p:txBody>
        </p:sp>
      </p:grpSp>
      <p:grpSp>
        <p:nvGrpSpPr>
          <p:cNvPr name="Group 9" id="9"/>
          <p:cNvGrpSpPr/>
          <p:nvPr/>
        </p:nvGrpSpPr>
        <p:grpSpPr>
          <a:xfrm rot="0">
            <a:off x="14853967" y="2590829"/>
            <a:ext cx="1887954" cy="1602890"/>
            <a:chOff x="0" y="0"/>
            <a:chExt cx="292494" cy="248330"/>
          </a:xfrm>
        </p:grpSpPr>
        <p:sp>
          <p:nvSpPr>
            <p:cNvPr name="Freeform 10" id="10"/>
            <p:cNvSpPr/>
            <p:nvPr/>
          </p:nvSpPr>
          <p:spPr>
            <a:xfrm flipH="false" flipV="false" rot="0">
              <a:off x="0" y="0"/>
              <a:ext cx="292494" cy="248330"/>
            </a:xfrm>
            <a:custGeom>
              <a:avLst/>
              <a:gdLst/>
              <a:ahLst/>
              <a:cxnLst/>
              <a:rect r="r" b="b" t="t" l="l"/>
              <a:pathLst>
                <a:path h="248330" w="292494">
                  <a:moveTo>
                    <a:pt x="41007" y="0"/>
                  </a:moveTo>
                  <a:lnTo>
                    <a:pt x="251487" y="0"/>
                  </a:lnTo>
                  <a:cubicBezTo>
                    <a:pt x="262362" y="0"/>
                    <a:pt x="272793" y="4320"/>
                    <a:pt x="280483" y="12011"/>
                  </a:cubicBezTo>
                  <a:cubicBezTo>
                    <a:pt x="288173" y="19701"/>
                    <a:pt x="292494" y="30131"/>
                    <a:pt x="292494" y="41007"/>
                  </a:cubicBezTo>
                  <a:lnTo>
                    <a:pt x="292494" y="207323"/>
                  </a:lnTo>
                  <a:cubicBezTo>
                    <a:pt x="292494" y="218198"/>
                    <a:pt x="288173" y="228629"/>
                    <a:pt x="280483" y="236319"/>
                  </a:cubicBezTo>
                  <a:cubicBezTo>
                    <a:pt x="272793" y="244009"/>
                    <a:pt x="262362" y="248330"/>
                    <a:pt x="251487" y="248330"/>
                  </a:cubicBezTo>
                  <a:lnTo>
                    <a:pt x="41007" y="248330"/>
                  </a:lnTo>
                  <a:cubicBezTo>
                    <a:pt x="30131" y="248330"/>
                    <a:pt x="19701" y="244009"/>
                    <a:pt x="12011" y="236319"/>
                  </a:cubicBezTo>
                  <a:cubicBezTo>
                    <a:pt x="4320" y="228629"/>
                    <a:pt x="0" y="218198"/>
                    <a:pt x="0" y="207323"/>
                  </a:cubicBezTo>
                  <a:lnTo>
                    <a:pt x="0" y="41007"/>
                  </a:lnTo>
                  <a:cubicBezTo>
                    <a:pt x="0" y="30131"/>
                    <a:pt x="4320" y="19701"/>
                    <a:pt x="12011" y="12011"/>
                  </a:cubicBezTo>
                  <a:cubicBezTo>
                    <a:pt x="19701" y="4320"/>
                    <a:pt x="30131" y="0"/>
                    <a:pt x="41007" y="0"/>
                  </a:cubicBezTo>
                  <a:close/>
                </a:path>
              </a:pathLst>
            </a:custGeom>
            <a:blipFill>
              <a:blip r:embed="rId4"/>
              <a:stretch>
                <a:fillRect l="-16199" t="0" r="-16199" b="0"/>
              </a:stretch>
            </a:blipFill>
          </p:spPr>
        </p:sp>
      </p:grpSp>
      <p:sp>
        <p:nvSpPr>
          <p:cNvPr name="Freeform 11" id="11"/>
          <p:cNvSpPr/>
          <p:nvPr/>
        </p:nvSpPr>
        <p:spPr>
          <a:xfrm flipH="false" flipV="false" rot="0">
            <a:off x="720274" y="842662"/>
            <a:ext cx="779338" cy="779338"/>
          </a:xfrm>
          <a:custGeom>
            <a:avLst/>
            <a:gdLst/>
            <a:ahLst/>
            <a:cxnLst/>
            <a:rect r="r" b="b" t="t" l="l"/>
            <a:pathLst>
              <a:path h="779338" w="779338">
                <a:moveTo>
                  <a:pt x="0" y="0"/>
                </a:moveTo>
                <a:lnTo>
                  <a:pt x="779338" y="0"/>
                </a:lnTo>
                <a:lnTo>
                  <a:pt x="779338" y="779339"/>
                </a:lnTo>
                <a:lnTo>
                  <a:pt x="0" y="7793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873777" y="1059914"/>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
        <p:nvSpPr>
          <p:cNvPr name="TextBox 13" id="13"/>
          <p:cNvSpPr txBox="true"/>
          <p:nvPr/>
        </p:nvSpPr>
        <p:spPr>
          <a:xfrm rot="0">
            <a:off x="1038504" y="2931460"/>
            <a:ext cx="13261901" cy="1695587"/>
          </a:xfrm>
          <a:prstGeom prst="rect">
            <a:avLst/>
          </a:prstGeom>
        </p:spPr>
        <p:txBody>
          <a:bodyPr anchor="t" rtlCol="false" tIns="0" lIns="0" bIns="0" rIns="0">
            <a:spAutoFit/>
          </a:bodyPr>
          <a:lstStyle/>
          <a:p>
            <a:pPr algn="l">
              <a:lnSpc>
                <a:spcPts val="12290"/>
              </a:lnSpc>
            </a:pPr>
            <a:r>
              <a:rPr lang="en-US" sz="14127" spc="-918">
                <a:solidFill>
                  <a:srgbClr val="969385"/>
                </a:solidFill>
                <a:latin typeface="League Spartan"/>
                <a:ea typeface="League Spartan"/>
                <a:cs typeface="League Spartan"/>
                <a:sym typeface="League Spartan"/>
              </a:rPr>
              <a:t>INTRODUCTION</a:t>
            </a:r>
          </a:p>
        </p:txBody>
      </p:sp>
      <p:sp>
        <p:nvSpPr>
          <p:cNvPr name="TextBox 14" id="14"/>
          <p:cNvSpPr txBox="true"/>
          <p:nvPr/>
        </p:nvSpPr>
        <p:spPr>
          <a:xfrm rot="0">
            <a:off x="1634672" y="5907076"/>
            <a:ext cx="3947070" cy="747394"/>
          </a:xfrm>
          <a:prstGeom prst="rect">
            <a:avLst/>
          </a:prstGeom>
        </p:spPr>
        <p:txBody>
          <a:bodyPr anchor="t" rtlCol="false" tIns="0" lIns="0" bIns="0" rIns="0">
            <a:spAutoFit/>
          </a:bodyPr>
          <a:lstStyle/>
          <a:p>
            <a:pPr algn="l">
              <a:lnSpc>
                <a:spcPts val="2799"/>
              </a:lnSpc>
            </a:pPr>
            <a:r>
              <a:rPr lang="en-US" sz="2799" spc="-55">
                <a:solidFill>
                  <a:srgbClr val="000000"/>
                </a:solidFill>
                <a:latin typeface="Poppins"/>
                <a:ea typeface="Poppins"/>
                <a:cs typeface="Poppins"/>
                <a:sym typeface="Poppins"/>
              </a:rPr>
              <a:t>The Development of Line Following Robots</a:t>
            </a:r>
          </a:p>
        </p:txBody>
      </p:sp>
      <p:sp>
        <p:nvSpPr>
          <p:cNvPr name="TextBox 15" id="15"/>
          <p:cNvSpPr txBox="true"/>
          <p:nvPr/>
        </p:nvSpPr>
        <p:spPr>
          <a:xfrm rot="0">
            <a:off x="1499612" y="7054454"/>
            <a:ext cx="7193083" cy="1068262"/>
          </a:xfrm>
          <a:prstGeom prst="rect">
            <a:avLst/>
          </a:prstGeom>
        </p:spPr>
        <p:txBody>
          <a:bodyPr anchor="t" rtlCol="false" tIns="0" lIns="0" bIns="0" rIns="0">
            <a:spAutoFit/>
          </a:bodyPr>
          <a:lstStyle/>
          <a:p>
            <a:pPr algn="l" marL="378351" indent="-189175" lvl="1">
              <a:lnSpc>
                <a:spcPts val="2102"/>
              </a:lnSpc>
              <a:buFont typeface="Arial"/>
              <a:buChar char="•"/>
            </a:pPr>
            <a:r>
              <a:rPr lang="en-US" sz="1752" spc="-35">
                <a:solidFill>
                  <a:srgbClr val="000000"/>
                </a:solidFill>
                <a:latin typeface="Poppins"/>
                <a:ea typeface="Poppins"/>
                <a:cs typeface="Poppins"/>
                <a:sym typeface="Poppins"/>
              </a:rPr>
              <a:t>Uses sensors to detect and follow a path</a:t>
            </a:r>
          </a:p>
          <a:p>
            <a:pPr algn="l" marL="378351" indent="-189175" lvl="1">
              <a:lnSpc>
                <a:spcPts val="2102"/>
              </a:lnSpc>
              <a:buFont typeface="Arial"/>
              <a:buChar char="•"/>
            </a:pPr>
            <a:r>
              <a:rPr lang="en-US" sz="1752" spc="-35">
                <a:solidFill>
                  <a:srgbClr val="000000"/>
                </a:solidFill>
                <a:latin typeface="Poppins"/>
                <a:ea typeface="Poppins"/>
                <a:cs typeface="Poppins"/>
                <a:sym typeface="Poppins"/>
              </a:rPr>
              <a:t>Moves automatically using motor control</a:t>
            </a:r>
          </a:p>
          <a:p>
            <a:pPr algn="l" marL="378351" indent="-189175" lvl="1">
              <a:lnSpc>
                <a:spcPts val="2102"/>
              </a:lnSpc>
              <a:buFont typeface="Arial"/>
              <a:buChar char="•"/>
            </a:pPr>
            <a:r>
              <a:rPr lang="en-US" sz="1752" spc="-35">
                <a:solidFill>
                  <a:srgbClr val="000000"/>
                </a:solidFill>
                <a:latin typeface="Poppins"/>
                <a:ea typeface="Poppins"/>
                <a:cs typeface="Poppins"/>
                <a:sym typeface="Poppins"/>
              </a:rPr>
              <a:t>Used in robotics and industrial automation</a:t>
            </a:r>
          </a:p>
          <a:p>
            <a:pPr algn="l" marL="378351" indent="-189175" lvl="1">
              <a:lnSpc>
                <a:spcPts val="2102"/>
              </a:lnSpc>
              <a:buFont typeface="Arial"/>
              <a:buChar char="•"/>
            </a:pPr>
            <a:r>
              <a:rPr lang="en-US" sz="1752" spc="-35">
                <a:solidFill>
                  <a:srgbClr val="000000"/>
                </a:solidFill>
                <a:latin typeface="Poppins"/>
                <a:ea typeface="Poppins"/>
                <a:cs typeface="Poppins"/>
                <a:sym typeface="Poppins"/>
              </a:rPr>
              <a:t>Applied in smart transportation systems</a:t>
            </a:r>
          </a:p>
        </p:txBody>
      </p:sp>
      <p:sp>
        <p:nvSpPr>
          <p:cNvPr name="TextBox 16" id="16"/>
          <p:cNvSpPr txBox="true"/>
          <p:nvPr/>
        </p:nvSpPr>
        <p:spPr>
          <a:xfrm rot="0">
            <a:off x="9324980" y="5980698"/>
            <a:ext cx="6472965" cy="2415289"/>
          </a:xfrm>
          <a:prstGeom prst="rect">
            <a:avLst/>
          </a:prstGeom>
        </p:spPr>
        <p:txBody>
          <a:bodyPr anchor="t" rtlCol="false" tIns="0" lIns="0" bIns="0" rIns="0">
            <a:spAutoFit/>
          </a:bodyPr>
          <a:lstStyle/>
          <a:p>
            <a:pPr algn="l" marL="491806" indent="-245903" lvl="1">
              <a:lnSpc>
                <a:spcPts val="2733"/>
              </a:lnSpc>
              <a:buFont typeface="Arial"/>
              <a:buChar char="•"/>
            </a:pPr>
            <a:r>
              <a:rPr lang="en-US" sz="2277" spc="-45">
                <a:solidFill>
                  <a:srgbClr val="969385"/>
                </a:solidFill>
                <a:latin typeface="Poppins"/>
                <a:ea typeface="Poppins"/>
                <a:cs typeface="Poppins"/>
                <a:sym typeface="Poppins"/>
              </a:rPr>
              <a:t>Sensors detect black and white surfaces</a:t>
            </a:r>
          </a:p>
          <a:p>
            <a:pPr algn="l" marL="491806" indent="-245903" lvl="1">
              <a:lnSpc>
                <a:spcPts val="2733"/>
              </a:lnSpc>
              <a:buFont typeface="Arial"/>
              <a:buChar char="•"/>
            </a:pPr>
            <a:r>
              <a:rPr lang="en-US" sz="2277" spc="-45">
                <a:solidFill>
                  <a:srgbClr val="969385"/>
                </a:solidFill>
                <a:latin typeface="Poppins"/>
                <a:ea typeface="Poppins"/>
                <a:cs typeface="Poppins"/>
                <a:sym typeface="Poppins"/>
              </a:rPr>
              <a:t>ESP32 processes sensor data</a:t>
            </a:r>
          </a:p>
          <a:p>
            <a:pPr algn="l" marL="491806" indent="-245903" lvl="1">
              <a:lnSpc>
                <a:spcPts val="2733"/>
              </a:lnSpc>
              <a:buFont typeface="Arial"/>
              <a:buChar char="•"/>
            </a:pPr>
            <a:r>
              <a:rPr lang="en-US" sz="2277" spc="-45">
                <a:solidFill>
                  <a:srgbClr val="969385"/>
                </a:solidFill>
                <a:latin typeface="Poppins"/>
                <a:ea typeface="Poppins"/>
                <a:cs typeface="Poppins"/>
                <a:sym typeface="Poppins"/>
              </a:rPr>
              <a:t>Motor driver controls the motors</a:t>
            </a:r>
          </a:p>
          <a:p>
            <a:pPr algn="l" marL="491806" indent="-245903" lvl="1">
              <a:lnSpc>
                <a:spcPts val="2733"/>
              </a:lnSpc>
              <a:buFont typeface="Arial"/>
              <a:buChar char="•"/>
            </a:pPr>
            <a:r>
              <a:rPr lang="en-US" sz="2277" spc="-45">
                <a:solidFill>
                  <a:srgbClr val="969385"/>
                </a:solidFill>
                <a:latin typeface="Poppins"/>
                <a:ea typeface="Poppins"/>
                <a:cs typeface="Poppins"/>
                <a:sym typeface="Poppins"/>
              </a:rPr>
              <a:t>Robot adjusts speed and direction automatically</a:t>
            </a:r>
          </a:p>
          <a:p>
            <a:pPr algn="l" marL="491806" indent="-245903" lvl="1">
              <a:lnSpc>
                <a:spcPts val="2733"/>
              </a:lnSpc>
              <a:buFont typeface="Arial"/>
              <a:buChar char="•"/>
            </a:pPr>
            <a:r>
              <a:rPr lang="en-US" sz="2277" spc="-45">
                <a:solidFill>
                  <a:srgbClr val="969385"/>
                </a:solidFill>
                <a:latin typeface="Poppins"/>
                <a:ea typeface="Poppins"/>
                <a:cs typeface="Poppins"/>
                <a:sym typeface="Poppins"/>
              </a:rPr>
              <a:t>Keeps the robot on the track continuously</a:t>
            </a:r>
          </a:p>
          <a:p>
            <a:pPr algn="l">
              <a:lnSpc>
                <a:spcPts val="273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8579082" y="7460846"/>
            <a:ext cx="8182251" cy="2009529"/>
            <a:chOff x="0" y="0"/>
            <a:chExt cx="2154996" cy="529259"/>
          </a:xfrm>
        </p:grpSpPr>
        <p:sp>
          <p:nvSpPr>
            <p:cNvPr name="Freeform 3" id="3"/>
            <p:cNvSpPr/>
            <p:nvPr/>
          </p:nvSpPr>
          <p:spPr>
            <a:xfrm flipH="false" flipV="false" rot="0">
              <a:off x="0" y="0"/>
              <a:ext cx="2154996" cy="529259"/>
            </a:xfrm>
            <a:custGeom>
              <a:avLst/>
              <a:gdLst/>
              <a:ahLst/>
              <a:cxnLst/>
              <a:rect r="r" b="b" t="t" l="l"/>
              <a:pathLst>
                <a:path h="529259" w="2154996">
                  <a:moveTo>
                    <a:pt x="9462" y="0"/>
                  </a:moveTo>
                  <a:lnTo>
                    <a:pt x="2145535" y="0"/>
                  </a:lnTo>
                  <a:cubicBezTo>
                    <a:pt x="2148044" y="0"/>
                    <a:pt x="2150451" y="997"/>
                    <a:pt x="2152225" y="2771"/>
                  </a:cubicBezTo>
                  <a:cubicBezTo>
                    <a:pt x="2154000" y="4546"/>
                    <a:pt x="2154996" y="6952"/>
                    <a:pt x="2154996" y="9462"/>
                  </a:cubicBezTo>
                  <a:lnTo>
                    <a:pt x="2154996" y="519797"/>
                  </a:lnTo>
                  <a:cubicBezTo>
                    <a:pt x="2154996" y="522306"/>
                    <a:pt x="2154000" y="524713"/>
                    <a:pt x="2152225" y="526487"/>
                  </a:cubicBezTo>
                  <a:cubicBezTo>
                    <a:pt x="2150451" y="528262"/>
                    <a:pt x="2148044" y="529259"/>
                    <a:pt x="2145535" y="529259"/>
                  </a:cubicBezTo>
                  <a:lnTo>
                    <a:pt x="9462" y="529259"/>
                  </a:lnTo>
                  <a:cubicBezTo>
                    <a:pt x="6952" y="529259"/>
                    <a:pt x="4546" y="528262"/>
                    <a:pt x="2771" y="526487"/>
                  </a:cubicBezTo>
                  <a:cubicBezTo>
                    <a:pt x="997" y="524713"/>
                    <a:pt x="0" y="522306"/>
                    <a:pt x="0" y="519797"/>
                  </a:cubicBezTo>
                  <a:lnTo>
                    <a:pt x="0" y="9462"/>
                  </a:lnTo>
                  <a:cubicBezTo>
                    <a:pt x="0" y="6952"/>
                    <a:pt x="997" y="4546"/>
                    <a:pt x="2771" y="2771"/>
                  </a:cubicBezTo>
                  <a:cubicBezTo>
                    <a:pt x="4546" y="997"/>
                    <a:pt x="6952" y="0"/>
                    <a:pt x="9462" y="0"/>
                  </a:cubicBezTo>
                  <a:close/>
                </a:path>
              </a:pathLst>
            </a:custGeom>
            <a:solidFill>
              <a:srgbClr val="2D661F"/>
            </a:solidFill>
          </p:spPr>
        </p:sp>
        <p:sp>
          <p:nvSpPr>
            <p:cNvPr name="TextBox 4" id="4"/>
            <p:cNvSpPr txBox="true"/>
            <p:nvPr/>
          </p:nvSpPr>
          <p:spPr>
            <a:xfrm>
              <a:off x="0" y="28575"/>
              <a:ext cx="2154996" cy="500684"/>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8697033" y="2432841"/>
            <a:ext cx="995933" cy="995933"/>
          </a:xfrm>
          <a:custGeom>
            <a:avLst/>
            <a:gdLst/>
            <a:ahLst/>
            <a:cxnLst/>
            <a:rect r="r" b="b" t="t" l="l"/>
            <a:pathLst>
              <a:path h="995933" w="995933">
                <a:moveTo>
                  <a:pt x="0" y="0"/>
                </a:moveTo>
                <a:lnTo>
                  <a:pt x="995933" y="0"/>
                </a:lnTo>
                <a:lnTo>
                  <a:pt x="995933" y="995933"/>
                </a:lnTo>
                <a:lnTo>
                  <a:pt x="0" y="9959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919772" y="1666240"/>
            <a:ext cx="6339528" cy="4540111"/>
          </a:xfrm>
          <a:custGeom>
            <a:avLst/>
            <a:gdLst/>
            <a:ahLst/>
            <a:cxnLst/>
            <a:rect r="r" b="b" t="t" l="l"/>
            <a:pathLst>
              <a:path h="4540111" w="6339528">
                <a:moveTo>
                  <a:pt x="0" y="0"/>
                </a:moveTo>
                <a:lnTo>
                  <a:pt x="6339528" y="0"/>
                </a:lnTo>
                <a:lnTo>
                  <a:pt x="6339528" y="4540111"/>
                </a:lnTo>
                <a:lnTo>
                  <a:pt x="0" y="4540111"/>
                </a:lnTo>
                <a:lnTo>
                  <a:pt x="0" y="0"/>
                </a:lnTo>
                <a:close/>
              </a:path>
            </a:pathLst>
          </a:custGeom>
          <a:blipFill>
            <a:blip r:embed="rId4"/>
            <a:stretch>
              <a:fillRect l="0" t="-8187" r="0" b="-31446"/>
            </a:stretch>
          </a:blipFill>
        </p:spPr>
      </p:sp>
      <p:grpSp>
        <p:nvGrpSpPr>
          <p:cNvPr name="Group 7" id="7"/>
          <p:cNvGrpSpPr/>
          <p:nvPr/>
        </p:nvGrpSpPr>
        <p:grpSpPr>
          <a:xfrm rot="0">
            <a:off x="9075076" y="4846544"/>
            <a:ext cx="3816147" cy="2228078"/>
            <a:chOff x="0" y="0"/>
            <a:chExt cx="1005076" cy="586819"/>
          </a:xfrm>
        </p:grpSpPr>
        <p:sp>
          <p:nvSpPr>
            <p:cNvPr name="Freeform 8" id="8"/>
            <p:cNvSpPr/>
            <p:nvPr/>
          </p:nvSpPr>
          <p:spPr>
            <a:xfrm flipH="false" flipV="false" rot="0">
              <a:off x="0" y="0"/>
              <a:ext cx="1005076" cy="586819"/>
            </a:xfrm>
            <a:custGeom>
              <a:avLst/>
              <a:gdLst/>
              <a:ahLst/>
              <a:cxnLst/>
              <a:rect r="r" b="b" t="t" l="l"/>
              <a:pathLst>
                <a:path h="586819" w="1005076">
                  <a:moveTo>
                    <a:pt x="20287" y="0"/>
                  </a:moveTo>
                  <a:lnTo>
                    <a:pt x="984789" y="0"/>
                  </a:lnTo>
                  <a:cubicBezTo>
                    <a:pt x="995993" y="0"/>
                    <a:pt x="1005076" y="9083"/>
                    <a:pt x="1005076" y="20287"/>
                  </a:cubicBezTo>
                  <a:lnTo>
                    <a:pt x="1005076" y="566532"/>
                  </a:lnTo>
                  <a:cubicBezTo>
                    <a:pt x="1005076" y="571912"/>
                    <a:pt x="1002938" y="577072"/>
                    <a:pt x="999134" y="580877"/>
                  </a:cubicBezTo>
                  <a:cubicBezTo>
                    <a:pt x="995329" y="584682"/>
                    <a:pt x="990169" y="586819"/>
                    <a:pt x="984789" y="586819"/>
                  </a:cubicBezTo>
                  <a:lnTo>
                    <a:pt x="20287" y="586819"/>
                  </a:lnTo>
                  <a:cubicBezTo>
                    <a:pt x="14907" y="586819"/>
                    <a:pt x="9747" y="584682"/>
                    <a:pt x="5942" y="580877"/>
                  </a:cubicBezTo>
                  <a:cubicBezTo>
                    <a:pt x="2137" y="577072"/>
                    <a:pt x="0" y="571912"/>
                    <a:pt x="0" y="566532"/>
                  </a:cubicBezTo>
                  <a:lnTo>
                    <a:pt x="0" y="20287"/>
                  </a:lnTo>
                  <a:cubicBezTo>
                    <a:pt x="0" y="14907"/>
                    <a:pt x="2137" y="9747"/>
                    <a:pt x="5942" y="5942"/>
                  </a:cubicBezTo>
                  <a:cubicBezTo>
                    <a:pt x="9747" y="2137"/>
                    <a:pt x="14907" y="0"/>
                    <a:pt x="20287" y="0"/>
                  </a:cubicBezTo>
                  <a:close/>
                </a:path>
              </a:pathLst>
            </a:custGeom>
            <a:solidFill>
              <a:srgbClr val="969385"/>
            </a:solidFill>
            <a:ln w="19050" cap="sq">
              <a:solidFill>
                <a:srgbClr val="2D661F"/>
              </a:solidFill>
              <a:prstDash val="solid"/>
              <a:miter/>
            </a:ln>
          </p:spPr>
        </p:sp>
        <p:sp>
          <p:nvSpPr>
            <p:cNvPr name="TextBox 9" id="9"/>
            <p:cNvSpPr txBox="true"/>
            <p:nvPr/>
          </p:nvSpPr>
          <p:spPr>
            <a:xfrm>
              <a:off x="0" y="28575"/>
              <a:ext cx="1005076" cy="558244"/>
            </a:xfrm>
            <a:prstGeom prst="rect">
              <a:avLst/>
            </a:prstGeom>
          </p:spPr>
          <p:txBody>
            <a:bodyPr anchor="ctr" rtlCol="false" tIns="50800" lIns="50800" bIns="50800" rIns="50800"/>
            <a:lstStyle/>
            <a:p>
              <a:pPr algn="ctr">
                <a:lnSpc>
                  <a:spcPts val="1134"/>
                </a:lnSpc>
              </a:pPr>
            </a:p>
          </p:txBody>
        </p:sp>
      </p:grpSp>
      <p:sp>
        <p:nvSpPr>
          <p:cNvPr name="Freeform 10" id="10"/>
          <p:cNvSpPr/>
          <p:nvPr/>
        </p:nvSpPr>
        <p:spPr>
          <a:xfrm flipH="false" flipV="false" rot="0">
            <a:off x="1327076" y="1908855"/>
            <a:ext cx="779338" cy="779338"/>
          </a:xfrm>
          <a:custGeom>
            <a:avLst/>
            <a:gdLst/>
            <a:ahLst/>
            <a:cxnLst/>
            <a:rect r="r" b="b" t="t" l="l"/>
            <a:pathLst>
              <a:path h="779338" w="779338">
                <a:moveTo>
                  <a:pt x="0" y="0"/>
                </a:moveTo>
                <a:lnTo>
                  <a:pt x="779339" y="0"/>
                </a:lnTo>
                <a:lnTo>
                  <a:pt x="779339" y="779338"/>
                </a:lnTo>
                <a:lnTo>
                  <a:pt x="0" y="7793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327076" y="4539897"/>
            <a:ext cx="6739968" cy="3485862"/>
          </a:xfrm>
          <a:prstGeom prst="rect">
            <a:avLst/>
          </a:prstGeom>
        </p:spPr>
        <p:txBody>
          <a:bodyPr anchor="t" rtlCol="false" tIns="0" lIns="0" bIns="0" rIns="0">
            <a:spAutoFit/>
          </a:bodyPr>
          <a:lstStyle/>
          <a:p>
            <a:pPr algn="l">
              <a:lnSpc>
                <a:spcPts val="8891"/>
              </a:lnSpc>
            </a:pPr>
            <a:r>
              <a:rPr lang="en-US" sz="10220" spc="-664">
                <a:solidFill>
                  <a:srgbClr val="9E3327"/>
                </a:solidFill>
                <a:latin typeface="League Spartan"/>
                <a:ea typeface="League Spartan"/>
                <a:cs typeface="League Spartan"/>
                <a:sym typeface="League Spartan"/>
              </a:rPr>
              <a:t>PROJECT</a:t>
            </a:r>
          </a:p>
          <a:p>
            <a:pPr algn="l">
              <a:lnSpc>
                <a:spcPts val="8891"/>
              </a:lnSpc>
            </a:pPr>
            <a:r>
              <a:rPr lang="en-US" sz="10220" spc="-664">
                <a:solidFill>
                  <a:srgbClr val="2D661F"/>
                </a:solidFill>
                <a:latin typeface="League Spartan"/>
                <a:ea typeface="League Spartan"/>
                <a:cs typeface="League Spartan"/>
                <a:sym typeface="League Spartan"/>
              </a:rPr>
              <a:t>GOAL AND</a:t>
            </a:r>
            <a:r>
              <a:rPr lang="en-US" sz="10220" spc="-664">
                <a:solidFill>
                  <a:srgbClr val="9E3327"/>
                </a:solidFill>
                <a:latin typeface="League Spartan"/>
                <a:ea typeface="League Spartan"/>
                <a:cs typeface="League Spartan"/>
                <a:sym typeface="League Spartan"/>
              </a:rPr>
              <a:t> TASK</a:t>
            </a:r>
          </a:p>
        </p:txBody>
      </p:sp>
      <p:sp>
        <p:nvSpPr>
          <p:cNvPr name="TextBox 12" id="12"/>
          <p:cNvSpPr txBox="true"/>
          <p:nvPr/>
        </p:nvSpPr>
        <p:spPr>
          <a:xfrm rot="0">
            <a:off x="8707920" y="7746479"/>
            <a:ext cx="7924577" cy="1428739"/>
          </a:xfrm>
          <a:prstGeom prst="rect">
            <a:avLst/>
          </a:prstGeom>
        </p:spPr>
        <p:txBody>
          <a:bodyPr anchor="t" rtlCol="false" tIns="0" lIns="0" bIns="0" rIns="0">
            <a:spAutoFit/>
          </a:bodyPr>
          <a:lstStyle/>
          <a:p>
            <a:pPr algn="l" marL="341183" indent="-170592" lvl="1">
              <a:lnSpc>
                <a:spcPts val="1896"/>
              </a:lnSpc>
              <a:buFont typeface="Arial"/>
              <a:buChar char="•"/>
            </a:pPr>
            <a:r>
              <a:rPr lang="en-US" sz="1580" spc="-31">
                <a:solidFill>
                  <a:srgbClr val="000000"/>
                </a:solidFill>
                <a:latin typeface="Poppins"/>
                <a:ea typeface="Poppins"/>
                <a:cs typeface="Poppins"/>
                <a:sym typeface="Poppins"/>
              </a:rPr>
              <a:t>Design of an autonomous line following robot</a:t>
            </a:r>
          </a:p>
          <a:p>
            <a:pPr algn="l" marL="341183" indent="-170592" lvl="1">
              <a:lnSpc>
                <a:spcPts val="1896"/>
              </a:lnSpc>
              <a:buFont typeface="Arial"/>
              <a:buChar char="•"/>
            </a:pPr>
            <a:r>
              <a:rPr lang="en-US" sz="1580" spc="-31">
                <a:solidFill>
                  <a:srgbClr val="000000"/>
                </a:solidFill>
                <a:latin typeface="Poppins"/>
                <a:ea typeface="Poppins"/>
                <a:cs typeface="Poppins"/>
                <a:sym typeface="Poppins"/>
              </a:rPr>
              <a:t>Uses ESP32 microcontroller</a:t>
            </a:r>
          </a:p>
          <a:p>
            <a:pPr algn="l" marL="341183" indent="-170592" lvl="1">
              <a:lnSpc>
                <a:spcPts val="1896"/>
              </a:lnSpc>
              <a:buFont typeface="Arial"/>
              <a:buChar char="•"/>
            </a:pPr>
            <a:r>
              <a:rPr lang="en-US" sz="1580" spc="-31">
                <a:solidFill>
                  <a:srgbClr val="000000"/>
                </a:solidFill>
                <a:latin typeface="Poppins"/>
                <a:ea typeface="Poppins"/>
                <a:cs typeface="Poppins"/>
                <a:sym typeface="Poppins"/>
              </a:rPr>
              <a:t>Detects and follows a black path</a:t>
            </a:r>
          </a:p>
          <a:p>
            <a:pPr algn="l" marL="341183" indent="-170592" lvl="1">
              <a:lnSpc>
                <a:spcPts val="1896"/>
              </a:lnSpc>
              <a:buFont typeface="Arial"/>
              <a:buChar char="•"/>
            </a:pPr>
            <a:r>
              <a:rPr lang="en-US" sz="1580" spc="-31">
                <a:solidFill>
                  <a:srgbClr val="000000"/>
                </a:solidFill>
                <a:latin typeface="Poppins"/>
                <a:ea typeface="Poppins"/>
                <a:cs typeface="Poppins"/>
                <a:sym typeface="Poppins"/>
              </a:rPr>
              <a:t>Controls motors automatically using sensor data</a:t>
            </a:r>
          </a:p>
          <a:p>
            <a:pPr algn="l" marL="341183" indent="-170592" lvl="1">
              <a:lnSpc>
                <a:spcPts val="1896"/>
              </a:lnSpc>
              <a:buFont typeface="Arial"/>
              <a:buChar char="•"/>
            </a:pPr>
            <a:r>
              <a:rPr lang="en-US" sz="1580" spc="-31">
                <a:solidFill>
                  <a:srgbClr val="000000"/>
                </a:solidFill>
                <a:latin typeface="Poppins"/>
                <a:ea typeface="Poppins"/>
                <a:cs typeface="Poppins"/>
                <a:sym typeface="Poppins"/>
              </a:rPr>
              <a:t>Works without human interaction</a:t>
            </a:r>
          </a:p>
          <a:p>
            <a:pPr algn="l" marL="341183" indent="-170592" lvl="1">
              <a:lnSpc>
                <a:spcPts val="1896"/>
              </a:lnSpc>
              <a:buFont typeface="Arial"/>
              <a:buChar char="•"/>
            </a:pPr>
            <a:r>
              <a:rPr lang="en-US" sz="1580" spc="-31">
                <a:solidFill>
                  <a:srgbClr val="000000"/>
                </a:solidFill>
                <a:latin typeface="Poppins"/>
                <a:ea typeface="Poppins"/>
                <a:cs typeface="Poppins"/>
                <a:sym typeface="Poppins"/>
              </a:rPr>
              <a:t>Demonstrates robotics and embedded systems principles</a:t>
            </a:r>
          </a:p>
        </p:txBody>
      </p:sp>
      <p:sp>
        <p:nvSpPr>
          <p:cNvPr name="TextBox 13" id="13"/>
          <p:cNvSpPr txBox="true"/>
          <p:nvPr/>
        </p:nvSpPr>
        <p:spPr>
          <a:xfrm rot="0">
            <a:off x="9384021" y="5349489"/>
            <a:ext cx="3198258" cy="1571403"/>
          </a:xfrm>
          <a:prstGeom prst="rect">
            <a:avLst/>
          </a:prstGeom>
        </p:spPr>
        <p:txBody>
          <a:bodyPr anchor="t" rtlCol="false" tIns="0" lIns="0" bIns="0" rIns="0">
            <a:spAutoFit/>
          </a:bodyPr>
          <a:lstStyle/>
          <a:p>
            <a:pPr algn="l">
              <a:lnSpc>
                <a:spcPts val="2429"/>
              </a:lnSpc>
            </a:pPr>
            <a:r>
              <a:rPr lang="en-US" sz="2429" spc="-48">
                <a:solidFill>
                  <a:srgbClr val="000000"/>
                </a:solidFill>
                <a:latin typeface="Poppins"/>
                <a:ea typeface="Poppins"/>
                <a:cs typeface="Poppins"/>
                <a:sym typeface="Poppins"/>
              </a:rPr>
              <a:t>Autonomous robot for line detection and path tracking using ESP32.</a:t>
            </a:r>
          </a:p>
          <a:p>
            <a:pPr algn="l">
              <a:lnSpc>
                <a:spcPts val="2429"/>
              </a:lnSpc>
            </a:pPr>
          </a:p>
        </p:txBody>
      </p:sp>
      <p:sp>
        <p:nvSpPr>
          <p:cNvPr name="TextBox 14" id="14"/>
          <p:cNvSpPr txBox="true"/>
          <p:nvPr/>
        </p:nvSpPr>
        <p:spPr>
          <a:xfrm rot="0">
            <a:off x="2375250" y="2126107"/>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1028700" y="417474"/>
            <a:ext cx="6837238" cy="9037073"/>
            <a:chOff x="0" y="0"/>
            <a:chExt cx="1800754" cy="2380134"/>
          </a:xfrm>
        </p:grpSpPr>
        <p:sp>
          <p:nvSpPr>
            <p:cNvPr name="Freeform 3" id="3"/>
            <p:cNvSpPr/>
            <p:nvPr/>
          </p:nvSpPr>
          <p:spPr>
            <a:xfrm flipH="false" flipV="false" rot="0">
              <a:off x="0" y="0"/>
              <a:ext cx="1800754" cy="2380134"/>
            </a:xfrm>
            <a:custGeom>
              <a:avLst/>
              <a:gdLst/>
              <a:ahLst/>
              <a:cxnLst/>
              <a:rect r="r" b="b" t="t" l="l"/>
              <a:pathLst>
                <a:path h="2380134" w="1800754">
                  <a:moveTo>
                    <a:pt x="11323" y="0"/>
                  </a:moveTo>
                  <a:lnTo>
                    <a:pt x="1789431" y="0"/>
                  </a:lnTo>
                  <a:cubicBezTo>
                    <a:pt x="1795685" y="0"/>
                    <a:pt x="1800754" y="5070"/>
                    <a:pt x="1800754" y="11323"/>
                  </a:cubicBezTo>
                  <a:lnTo>
                    <a:pt x="1800754" y="2368811"/>
                  </a:lnTo>
                  <a:cubicBezTo>
                    <a:pt x="1800754" y="2371814"/>
                    <a:pt x="1799561" y="2374694"/>
                    <a:pt x="1797438" y="2376818"/>
                  </a:cubicBezTo>
                  <a:cubicBezTo>
                    <a:pt x="1795314" y="2378941"/>
                    <a:pt x="1792434" y="2380134"/>
                    <a:pt x="1789431" y="2380134"/>
                  </a:cubicBezTo>
                  <a:lnTo>
                    <a:pt x="11323" y="2380134"/>
                  </a:lnTo>
                  <a:cubicBezTo>
                    <a:pt x="8320" y="2380134"/>
                    <a:pt x="5440" y="2378941"/>
                    <a:pt x="3316" y="2376818"/>
                  </a:cubicBezTo>
                  <a:cubicBezTo>
                    <a:pt x="1193" y="2374694"/>
                    <a:pt x="0" y="2371814"/>
                    <a:pt x="0" y="2368811"/>
                  </a:cubicBezTo>
                  <a:lnTo>
                    <a:pt x="0" y="11323"/>
                  </a:lnTo>
                  <a:cubicBezTo>
                    <a:pt x="0" y="5070"/>
                    <a:pt x="5070" y="0"/>
                    <a:pt x="11323" y="0"/>
                  </a:cubicBezTo>
                  <a:close/>
                </a:path>
              </a:pathLst>
            </a:custGeom>
            <a:solidFill>
              <a:srgbClr val="2D661F"/>
            </a:solidFill>
          </p:spPr>
        </p:sp>
        <p:sp>
          <p:nvSpPr>
            <p:cNvPr name="TextBox 4" id="4"/>
            <p:cNvSpPr txBox="true"/>
            <p:nvPr/>
          </p:nvSpPr>
          <p:spPr>
            <a:xfrm>
              <a:off x="0" y="28575"/>
              <a:ext cx="1800754" cy="2351559"/>
            </a:xfrm>
            <a:prstGeom prst="rect">
              <a:avLst/>
            </a:prstGeom>
          </p:spPr>
          <p:txBody>
            <a:bodyPr anchor="ctr" rtlCol="false" tIns="50800" lIns="50800" bIns="50800" rIns="50800"/>
            <a:lstStyle/>
            <a:p>
              <a:pPr algn="ctr">
                <a:lnSpc>
                  <a:spcPts val="1134"/>
                </a:lnSpc>
              </a:pPr>
            </a:p>
          </p:txBody>
        </p:sp>
      </p:grpSp>
      <p:graphicFrame>
        <p:nvGraphicFramePr>
          <p:cNvPr name="Table 5" id="5"/>
          <p:cNvGraphicFramePr>
            <a:graphicFrameLocks noGrp="true"/>
          </p:cNvGraphicFramePr>
          <p:nvPr/>
        </p:nvGraphicFramePr>
        <p:xfrm>
          <a:off x="1668576" y="571500"/>
          <a:ext cx="5450412" cy="8658225"/>
        </p:xfrm>
        <a:graphic>
          <a:graphicData uri="http://schemas.openxmlformats.org/drawingml/2006/table">
            <a:tbl>
              <a:tblPr/>
              <a:tblGrid>
                <a:gridCol w="2749801"/>
                <a:gridCol w="2700610"/>
              </a:tblGrid>
              <a:tr h="774935">
                <a:tc>
                  <a:txBody>
                    <a:bodyPr anchor="t" rtlCol="false"/>
                    <a:lstStyle/>
                    <a:p>
                      <a:pPr algn="ctr">
                        <a:lnSpc>
                          <a:spcPts val="1960"/>
                        </a:lnSpc>
                        <a:defRPr/>
                      </a:pPr>
                      <a:r>
                        <a:rPr lang="en-US" sz="1400" b="true">
                          <a:solidFill>
                            <a:srgbClr val="000000"/>
                          </a:solidFill>
                          <a:latin typeface="Poppins Bold"/>
                          <a:ea typeface="Poppins Bold"/>
                          <a:cs typeface="Poppins Bold"/>
                          <a:sym typeface="Poppins Bold"/>
                        </a:rPr>
                        <a:t>Component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b="true">
                          <a:solidFill>
                            <a:srgbClr val="000000"/>
                          </a:solidFill>
                          <a:latin typeface="Poppins Bold"/>
                          <a:ea typeface="Poppins Bold"/>
                          <a:cs typeface="Poppins Bold"/>
                          <a:sym typeface="Poppins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21169">
                <a:tc>
                  <a:txBody>
                    <a:bodyPr anchor="t" rtlCol="false"/>
                    <a:lstStyle/>
                    <a:p>
                      <a:pPr algn="ctr">
                        <a:lnSpc>
                          <a:spcPts val="1960"/>
                        </a:lnSpc>
                        <a:defRPr/>
                      </a:pPr>
                      <a:r>
                        <a:rPr lang="en-US" sz="1400">
                          <a:solidFill>
                            <a:srgbClr val="000000"/>
                          </a:solidFill>
                          <a:latin typeface="Poppins"/>
                          <a:ea typeface="Poppins"/>
                          <a:cs typeface="Poppins"/>
                          <a:sym typeface="Poppins"/>
                        </a:rPr>
                        <a:t>ESP32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Serves as the main microcontroller and central processing unit of the robot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72424">
                <a:tc>
                  <a:txBody>
                    <a:bodyPr anchor="t" rtlCol="false"/>
                    <a:lstStyle/>
                    <a:p>
                      <a:pPr algn="ctr">
                        <a:lnSpc>
                          <a:spcPts val="1960"/>
                        </a:lnSpc>
                        <a:defRPr/>
                      </a:pPr>
                      <a:r>
                        <a:rPr lang="en-US" sz="1400">
                          <a:solidFill>
                            <a:srgbClr val="000000"/>
                          </a:solidFill>
                          <a:latin typeface="Poppins"/>
                          <a:ea typeface="Poppins"/>
                          <a:cs typeface="Poppins"/>
                          <a:sym typeface="Poppins"/>
                        </a:rPr>
                        <a:t>ZK-5AD Motor Driver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Used to control the direction and speed of the DC motors.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72424">
                <a:tc>
                  <a:txBody>
                    <a:bodyPr anchor="t" rtlCol="false"/>
                    <a:lstStyle/>
                    <a:p>
                      <a:pPr algn="ctr">
                        <a:lnSpc>
                          <a:spcPts val="1960"/>
                        </a:lnSpc>
                        <a:defRPr/>
                      </a:pPr>
                      <a:r>
                        <a:rPr lang="en-US" sz="1400">
                          <a:solidFill>
                            <a:srgbClr val="000000"/>
                          </a:solidFill>
                          <a:latin typeface="Poppins"/>
                          <a:ea typeface="Poppins"/>
                          <a:cs typeface="Poppins"/>
                          <a:sym typeface="Poppins"/>
                        </a:rPr>
                        <a:t>Amperka Octoliner Sensor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Multi-channel infrared sensor array used for precise line detection.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21169">
                <a:tc>
                  <a:txBody>
                    <a:bodyPr anchor="t" rtlCol="false"/>
                    <a:lstStyle/>
                    <a:p>
                      <a:pPr algn="ctr">
                        <a:lnSpc>
                          <a:spcPts val="1960"/>
                        </a:lnSpc>
                        <a:defRPr/>
                      </a:pPr>
                      <a:r>
                        <a:rPr lang="en-US" sz="1400">
                          <a:solidFill>
                            <a:srgbClr val="000000"/>
                          </a:solidFill>
                          <a:latin typeface="Poppins"/>
                          <a:ea typeface="Poppins"/>
                          <a:cs typeface="Poppins"/>
                          <a:sym typeface="Poppins"/>
                        </a:rPr>
                        <a:t>Expansion Board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The robot uses DC motors for movement, connected to wheels for mobility.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21169">
                <a:tc>
                  <a:txBody>
                    <a:bodyPr anchor="t" rtlCol="false"/>
                    <a:lstStyle/>
                    <a:p>
                      <a:pPr algn="ctr">
                        <a:lnSpc>
                          <a:spcPts val="1960"/>
                        </a:lnSpc>
                        <a:defRPr/>
                      </a:pPr>
                      <a:r>
                        <a:rPr lang="en-US" sz="1400">
                          <a:solidFill>
                            <a:srgbClr val="000000"/>
                          </a:solidFill>
                          <a:latin typeface="Poppins"/>
                          <a:ea typeface="Poppins"/>
                          <a:cs typeface="Poppins"/>
                          <a:sym typeface="Poppins"/>
                        </a:rPr>
                        <a:t>DC Motors with Wheels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The robot uses DC motors for movement, connected to wheels for mobility.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74935">
                <a:tc>
                  <a:txBody>
                    <a:bodyPr anchor="t" rtlCol="false"/>
                    <a:lstStyle/>
                    <a:p>
                      <a:pPr algn="ctr">
                        <a:lnSpc>
                          <a:spcPts val="1960"/>
                        </a:lnSpc>
                        <a:defRPr/>
                      </a:pPr>
                      <a:r>
                        <a:rPr lang="en-US" sz="1400">
                          <a:solidFill>
                            <a:srgbClr val="000000"/>
                          </a:solidFill>
                          <a:latin typeface="Poppins"/>
                          <a:ea typeface="Poppins"/>
                          <a:cs typeface="Poppins"/>
                          <a:sym typeface="Poppins"/>
                        </a:rPr>
                        <a:t>Battery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Poppins"/>
                          <a:ea typeface="Poppins"/>
                          <a:cs typeface="Poppins"/>
                          <a:sym typeface="Poppins"/>
                        </a:rPr>
                        <a:t>Power supply.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6" id="6"/>
          <p:cNvSpPr/>
          <p:nvPr/>
        </p:nvSpPr>
        <p:spPr>
          <a:xfrm flipH="false" flipV="false" rot="0">
            <a:off x="16479962" y="883189"/>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981253" y="4900612"/>
            <a:ext cx="7888378" cy="4155485"/>
          </a:xfrm>
          <a:custGeom>
            <a:avLst/>
            <a:gdLst/>
            <a:ahLst/>
            <a:cxnLst/>
            <a:rect r="r" b="b" t="t" l="l"/>
            <a:pathLst>
              <a:path h="4155485" w="7888378">
                <a:moveTo>
                  <a:pt x="0" y="0"/>
                </a:moveTo>
                <a:lnTo>
                  <a:pt x="7888378" y="0"/>
                </a:lnTo>
                <a:lnTo>
                  <a:pt x="7888378" y="4155485"/>
                </a:lnTo>
                <a:lnTo>
                  <a:pt x="0" y="4155485"/>
                </a:lnTo>
                <a:lnTo>
                  <a:pt x="0" y="0"/>
                </a:lnTo>
                <a:close/>
              </a:path>
            </a:pathLst>
          </a:custGeom>
          <a:blipFill>
            <a:blip r:embed="rId4"/>
            <a:stretch>
              <a:fillRect l="-1529" t="-22435" r="-2359" b="-48680"/>
            </a:stretch>
          </a:blipFill>
        </p:spPr>
      </p:sp>
      <p:sp>
        <p:nvSpPr>
          <p:cNvPr name="TextBox 8" id="8"/>
          <p:cNvSpPr txBox="true"/>
          <p:nvPr/>
        </p:nvSpPr>
        <p:spPr>
          <a:xfrm rot="0">
            <a:off x="8690002" y="2323474"/>
            <a:ext cx="10128013" cy="768402"/>
          </a:xfrm>
          <a:prstGeom prst="rect">
            <a:avLst/>
          </a:prstGeom>
        </p:spPr>
        <p:txBody>
          <a:bodyPr anchor="t" rtlCol="false" tIns="0" lIns="0" bIns="0" rIns="0">
            <a:spAutoFit/>
          </a:bodyPr>
          <a:lstStyle/>
          <a:p>
            <a:pPr algn="l">
              <a:lnSpc>
                <a:spcPts val="5505"/>
              </a:lnSpc>
            </a:pPr>
            <a:r>
              <a:rPr lang="en-US" sz="6327" spc="-411">
                <a:solidFill>
                  <a:srgbClr val="9E3327"/>
                </a:solidFill>
                <a:latin typeface="League Spartan"/>
                <a:ea typeface="League Spartan"/>
                <a:cs typeface="League Spartan"/>
                <a:sym typeface="League Spartan"/>
              </a:rPr>
              <a:t>C</a:t>
            </a:r>
            <a:r>
              <a:rPr lang="en-US" sz="6327" spc="-411">
                <a:solidFill>
                  <a:srgbClr val="9E3327"/>
                </a:solidFill>
                <a:latin typeface="League Spartan"/>
                <a:ea typeface="League Spartan"/>
                <a:cs typeface="League Spartan"/>
                <a:sym typeface="League Spartan"/>
              </a:rPr>
              <a:t>OMPONENTS USED</a:t>
            </a:r>
          </a:p>
        </p:txBody>
      </p:sp>
      <p:sp>
        <p:nvSpPr>
          <p:cNvPr name="TextBox 9" id="9"/>
          <p:cNvSpPr txBox="true"/>
          <p:nvPr/>
        </p:nvSpPr>
        <p:spPr>
          <a:xfrm rot="0">
            <a:off x="8498359" y="3319925"/>
            <a:ext cx="6370603" cy="1097605"/>
          </a:xfrm>
          <a:prstGeom prst="rect">
            <a:avLst/>
          </a:prstGeom>
        </p:spPr>
        <p:txBody>
          <a:bodyPr anchor="t" rtlCol="false" tIns="0" lIns="0" bIns="0" rIns="0">
            <a:spAutoFit/>
          </a:bodyPr>
          <a:lstStyle/>
          <a:p>
            <a:pPr algn="l">
              <a:lnSpc>
                <a:spcPts val="4131"/>
              </a:lnSpc>
            </a:pPr>
            <a:r>
              <a:rPr lang="en-US" sz="4748" spc="-308">
                <a:solidFill>
                  <a:srgbClr val="2D661F"/>
                </a:solidFill>
                <a:latin typeface="League Spartan"/>
                <a:ea typeface="League Spartan"/>
                <a:cs typeface="League Spartan"/>
                <a:sym typeface="League Spartan"/>
              </a:rPr>
              <a:t>H</a:t>
            </a:r>
            <a:r>
              <a:rPr lang="en-US" sz="4748" spc="-308">
                <a:solidFill>
                  <a:srgbClr val="2D661F"/>
                </a:solidFill>
                <a:latin typeface="League Spartan"/>
                <a:ea typeface="League Spartan"/>
                <a:cs typeface="League Spartan"/>
                <a:sym typeface="League Spartan"/>
              </a:rPr>
              <a:t>ARDWARE COMPONENTS</a:t>
            </a:r>
          </a:p>
        </p:txBody>
      </p:sp>
      <p:sp>
        <p:nvSpPr>
          <p:cNvPr name="TextBox 10" id="10"/>
          <p:cNvSpPr txBox="true"/>
          <p:nvPr/>
        </p:nvSpPr>
        <p:spPr>
          <a:xfrm rot="0">
            <a:off x="14274534" y="1100441"/>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773627" y="-113282"/>
            <a:ext cx="16740747" cy="10513564"/>
            <a:chOff x="0" y="0"/>
            <a:chExt cx="4409086" cy="2769004"/>
          </a:xfrm>
        </p:grpSpPr>
        <p:sp>
          <p:nvSpPr>
            <p:cNvPr name="Freeform 3" id="3"/>
            <p:cNvSpPr/>
            <p:nvPr/>
          </p:nvSpPr>
          <p:spPr>
            <a:xfrm flipH="false" flipV="false" rot="0">
              <a:off x="0" y="0"/>
              <a:ext cx="4409086" cy="2769004"/>
            </a:xfrm>
            <a:custGeom>
              <a:avLst/>
              <a:gdLst/>
              <a:ahLst/>
              <a:cxnLst/>
              <a:rect r="r" b="b" t="t" l="l"/>
              <a:pathLst>
                <a:path h="2769004" w="4409086">
                  <a:moveTo>
                    <a:pt x="4625" y="0"/>
                  </a:moveTo>
                  <a:lnTo>
                    <a:pt x="4404461" y="0"/>
                  </a:lnTo>
                  <a:cubicBezTo>
                    <a:pt x="4407015" y="0"/>
                    <a:pt x="4409086" y="2071"/>
                    <a:pt x="4409086" y="4625"/>
                  </a:cubicBezTo>
                  <a:lnTo>
                    <a:pt x="4409086" y="2764380"/>
                  </a:lnTo>
                  <a:cubicBezTo>
                    <a:pt x="4409086" y="2765606"/>
                    <a:pt x="4408598" y="2766783"/>
                    <a:pt x="4407731" y="2767650"/>
                  </a:cubicBezTo>
                  <a:cubicBezTo>
                    <a:pt x="4406864" y="2768517"/>
                    <a:pt x="4405687" y="2769004"/>
                    <a:pt x="4404461" y="2769004"/>
                  </a:cubicBezTo>
                  <a:lnTo>
                    <a:pt x="4625" y="2769004"/>
                  </a:lnTo>
                  <a:cubicBezTo>
                    <a:pt x="3398" y="2769004"/>
                    <a:pt x="2222" y="2768517"/>
                    <a:pt x="1355" y="2767650"/>
                  </a:cubicBezTo>
                  <a:cubicBezTo>
                    <a:pt x="487" y="2766783"/>
                    <a:pt x="0" y="2765606"/>
                    <a:pt x="0" y="2764380"/>
                  </a:cubicBezTo>
                  <a:lnTo>
                    <a:pt x="0" y="4625"/>
                  </a:lnTo>
                  <a:cubicBezTo>
                    <a:pt x="0" y="3398"/>
                    <a:pt x="487" y="2222"/>
                    <a:pt x="1355" y="1355"/>
                  </a:cubicBezTo>
                  <a:cubicBezTo>
                    <a:pt x="2222" y="487"/>
                    <a:pt x="3398" y="0"/>
                    <a:pt x="4625" y="0"/>
                  </a:cubicBezTo>
                  <a:close/>
                </a:path>
              </a:pathLst>
            </a:custGeom>
            <a:solidFill>
              <a:srgbClr val="2D661F"/>
            </a:solidFill>
          </p:spPr>
        </p:sp>
        <p:sp>
          <p:nvSpPr>
            <p:cNvPr name="TextBox 4" id="4"/>
            <p:cNvSpPr txBox="true"/>
            <p:nvPr/>
          </p:nvSpPr>
          <p:spPr>
            <a:xfrm>
              <a:off x="0" y="28575"/>
              <a:ext cx="4409086" cy="2740429"/>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1684651" y="185677"/>
            <a:ext cx="14918698" cy="9939582"/>
          </a:xfrm>
          <a:custGeom>
            <a:avLst/>
            <a:gdLst/>
            <a:ahLst/>
            <a:cxnLst/>
            <a:rect r="r" b="b" t="t" l="l"/>
            <a:pathLst>
              <a:path h="9939582" w="14918698">
                <a:moveTo>
                  <a:pt x="0" y="0"/>
                </a:moveTo>
                <a:lnTo>
                  <a:pt x="14918698" y="0"/>
                </a:lnTo>
                <a:lnTo>
                  <a:pt x="14918698" y="9939582"/>
                </a:lnTo>
                <a:lnTo>
                  <a:pt x="0" y="9939582"/>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8831692" y="4864549"/>
            <a:ext cx="8427608" cy="3928214"/>
            <a:chOff x="0" y="0"/>
            <a:chExt cx="2219617" cy="1034591"/>
          </a:xfrm>
        </p:grpSpPr>
        <p:sp>
          <p:nvSpPr>
            <p:cNvPr name="Freeform 3" id="3"/>
            <p:cNvSpPr/>
            <p:nvPr/>
          </p:nvSpPr>
          <p:spPr>
            <a:xfrm flipH="false" flipV="false" rot="0">
              <a:off x="0" y="0"/>
              <a:ext cx="2219617" cy="1034592"/>
            </a:xfrm>
            <a:custGeom>
              <a:avLst/>
              <a:gdLst/>
              <a:ahLst/>
              <a:cxnLst/>
              <a:rect r="r" b="b" t="t" l="l"/>
              <a:pathLst>
                <a:path h="1034592" w="2219617">
                  <a:moveTo>
                    <a:pt x="9186" y="0"/>
                  </a:moveTo>
                  <a:lnTo>
                    <a:pt x="2210430" y="0"/>
                  </a:lnTo>
                  <a:cubicBezTo>
                    <a:pt x="2215504" y="0"/>
                    <a:pt x="2219617" y="4113"/>
                    <a:pt x="2219617" y="9186"/>
                  </a:cubicBezTo>
                  <a:lnTo>
                    <a:pt x="2219617" y="1025405"/>
                  </a:lnTo>
                  <a:cubicBezTo>
                    <a:pt x="2219617" y="1030479"/>
                    <a:pt x="2215504" y="1034592"/>
                    <a:pt x="2210430" y="1034592"/>
                  </a:cubicBezTo>
                  <a:lnTo>
                    <a:pt x="9186" y="1034592"/>
                  </a:lnTo>
                  <a:cubicBezTo>
                    <a:pt x="4113" y="1034592"/>
                    <a:pt x="0" y="1030479"/>
                    <a:pt x="0" y="1025405"/>
                  </a:cubicBezTo>
                  <a:lnTo>
                    <a:pt x="0" y="9186"/>
                  </a:lnTo>
                  <a:cubicBezTo>
                    <a:pt x="0" y="4113"/>
                    <a:pt x="4113" y="0"/>
                    <a:pt x="9186" y="0"/>
                  </a:cubicBezTo>
                  <a:close/>
                </a:path>
              </a:pathLst>
            </a:custGeom>
            <a:solidFill>
              <a:srgbClr val="2D661F"/>
            </a:solidFill>
          </p:spPr>
        </p:sp>
        <p:sp>
          <p:nvSpPr>
            <p:cNvPr name="TextBox 4" id="4"/>
            <p:cNvSpPr txBox="true"/>
            <p:nvPr/>
          </p:nvSpPr>
          <p:spPr>
            <a:xfrm>
              <a:off x="0" y="28575"/>
              <a:ext cx="2219617" cy="1006016"/>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7502427" y="3096333"/>
            <a:ext cx="995933" cy="995933"/>
          </a:xfrm>
          <a:custGeom>
            <a:avLst/>
            <a:gdLst/>
            <a:ahLst/>
            <a:cxnLst/>
            <a:rect r="r" b="b" t="t" l="l"/>
            <a:pathLst>
              <a:path h="995933" w="995933">
                <a:moveTo>
                  <a:pt x="0" y="0"/>
                </a:moveTo>
                <a:lnTo>
                  <a:pt x="995932" y="0"/>
                </a:lnTo>
                <a:lnTo>
                  <a:pt x="995932" y="995933"/>
                </a:lnTo>
                <a:lnTo>
                  <a:pt x="0" y="9959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253984" y="1133989"/>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283837" y="2998448"/>
            <a:ext cx="7975463" cy="1446542"/>
          </a:xfrm>
          <a:prstGeom prst="rect">
            <a:avLst/>
          </a:prstGeom>
        </p:spPr>
        <p:txBody>
          <a:bodyPr anchor="t" rtlCol="false" tIns="0" lIns="0" bIns="0" rIns="0">
            <a:spAutoFit/>
          </a:bodyPr>
          <a:lstStyle/>
          <a:p>
            <a:pPr algn="l">
              <a:lnSpc>
                <a:spcPts val="5477"/>
              </a:lnSpc>
            </a:pPr>
            <a:r>
              <a:rPr lang="en-US" sz="6295" spc="-409">
                <a:solidFill>
                  <a:srgbClr val="9E3327"/>
                </a:solidFill>
                <a:latin typeface="League Spartan"/>
                <a:ea typeface="League Spartan"/>
                <a:cs typeface="League Spartan"/>
                <a:sym typeface="League Spartan"/>
              </a:rPr>
              <a:t>ESP32 MICROCONTROLLER</a:t>
            </a:r>
          </a:p>
        </p:txBody>
      </p:sp>
      <p:sp>
        <p:nvSpPr>
          <p:cNvPr name="TextBox 8" id="8"/>
          <p:cNvSpPr txBox="true"/>
          <p:nvPr/>
        </p:nvSpPr>
        <p:spPr>
          <a:xfrm rot="0">
            <a:off x="1028700" y="1066800"/>
            <a:ext cx="3461309" cy="1687249"/>
          </a:xfrm>
          <a:prstGeom prst="rect">
            <a:avLst/>
          </a:prstGeom>
        </p:spPr>
        <p:txBody>
          <a:bodyPr anchor="t" rtlCol="false" tIns="0" lIns="0" bIns="0" rIns="0">
            <a:spAutoFit/>
          </a:bodyPr>
          <a:lstStyle/>
          <a:p>
            <a:pPr algn="l">
              <a:lnSpc>
                <a:spcPts val="3262"/>
              </a:lnSpc>
            </a:pPr>
            <a:r>
              <a:rPr lang="en-US" sz="3262" spc="-65">
                <a:solidFill>
                  <a:srgbClr val="969385"/>
                </a:solidFill>
                <a:latin typeface="Poppins"/>
                <a:ea typeface="Poppins"/>
                <a:cs typeface="Poppins"/>
                <a:sym typeface="Poppins"/>
              </a:rPr>
              <a:t>ESP32 controls the sensors and motors of the robot.</a:t>
            </a:r>
          </a:p>
        </p:txBody>
      </p:sp>
      <p:sp>
        <p:nvSpPr>
          <p:cNvPr name="TextBox 9" id="9"/>
          <p:cNvSpPr txBox="true"/>
          <p:nvPr/>
        </p:nvSpPr>
        <p:spPr>
          <a:xfrm rot="0">
            <a:off x="9283837" y="5371298"/>
            <a:ext cx="4127568" cy="3135177"/>
          </a:xfrm>
          <a:prstGeom prst="rect">
            <a:avLst/>
          </a:prstGeom>
        </p:spPr>
        <p:txBody>
          <a:bodyPr anchor="t" rtlCol="false" tIns="0" lIns="0" bIns="0" rIns="0">
            <a:spAutoFit/>
          </a:bodyPr>
          <a:lstStyle/>
          <a:p>
            <a:pPr algn="l">
              <a:lnSpc>
                <a:spcPts val="2271"/>
              </a:lnSpc>
            </a:pPr>
            <a:r>
              <a:rPr lang="en-US" sz="1892" spc="-37">
                <a:solidFill>
                  <a:srgbClr val="000000"/>
                </a:solidFill>
                <a:latin typeface="Poppins"/>
                <a:ea typeface="Poppins"/>
                <a:cs typeface="Poppins"/>
                <a:sym typeface="Poppins"/>
              </a:rPr>
              <a:t>IThe ESP32 is the main microcontroller used in this project. It processes data received from the Octoliner sensor and sends control signals to the ZK-5AD motor driver. The ESP32 was chosen because of its high performance, low power consumption, and built-in wireless capabilities. It serves as the central control unit of the entire robotic system.</a:t>
            </a:r>
          </a:p>
        </p:txBody>
      </p:sp>
      <p:sp>
        <p:nvSpPr>
          <p:cNvPr name="TextBox 10" id="10"/>
          <p:cNvSpPr txBox="true"/>
          <p:nvPr/>
        </p:nvSpPr>
        <p:spPr>
          <a:xfrm rot="0">
            <a:off x="14007261" y="5458520"/>
            <a:ext cx="2485468" cy="2960732"/>
          </a:xfrm>
          <a:prstGeom prst="rect">
            <a:avLst/>
          </a:prstGeom>
        </p:spPr>
        <p:txBody>
          <a:bodyPr anchor="t" rtlCol="false" tIns="0" lIns="0" bIns="0" rIns="0">
            <a:spAutoFit/>
          </a:bodyPr>
          <a:lstStyle/>
          <a:p>
            <a:pPr algn="l" marL="385740" indent="-192870" lvl="1">
              <a:lnSpc>
                <a:spcPts val="2143"/>
              </a:lnSpc>
              <a:buFont typeface="Arial"/>
              <a:buChar char="•"/>
            </a:pPr>
            <a:r>
              <a:rPr lang="en-US" sz="1786" spc="-35">
                <a:solidFill>
                  <a:srgbClr val="000000"/>
                </a:solidFill>
                <a:latin typeface="Poppins"/>
                <a:ea typeface="Poppins"/>
                <a:cs typeface="Poppins"/>
                <a:sym typeface="Poppins"/>
              </a:rPr>
              <a:t>Main controller of the robot</a:t>
            </a:r>
          </a:p>
          <a:p>
            <a:pPr algn="l" marL="385740" indent="-192870" lvl="1">
              <a:lnSpc>
                <a:spcPts val="2143"/>
              </a:lnSpc>
              <a:buFont typeface="Arial"/>
              <a:buChar char="•"/>
            </a:pPr>
            <a:r>
              <a:rPr lang="en-US" sz="1786" spc="-35">
                <a:solidFill>
                  <a:srgbClr val="000000"/>
                </a:solidFill>
                <a:latin typeface="Poppins"/>
                <a:ea typeface="Poppins"/>
                <a:cs typeface="Poppins"/>
                <a:sym typeface="Poppins"/>
              </a:rPr>
              <a:t>Processes sensor data</a:t>
            </a:r>
          </a:p>
          <a:p>
            <a:pPr algn="l" marL="385740" indent="-192870" lvl="1">
              <a:lnSpc>
                <a:spcPts val="2143"/>
              </a:lnSpc>
              <a:buFont typeface="Arial"/>
              <a:buChar char="•"/>
            </a:pPr>
            <a:r>
              <a:rPr lang="en-US" sz="1786" spc="-35">
                <a:solidFill>
                  <a:srgbClr val="000000"/>
                </a:solidFill>
                <a:latin typeface="Poppins"/>
                <a:ea typeface="Poppins"/>
                <a:cs typeface="Poppins"/>
                <a:sym typeface="Poppins"/>
              </a:rPr>
              <a:t>Controls motor driver</a:t>
            </a:r>
          </a:p>
          <a:p>
            <a:pPr algn="l" marL="385740" indent="-192870" lvl="1">
              <a:lnSpc>
                <a:spcPts val="2143"/>
              </a:lnSpc>
              <a:buFont typeface="Arial"/>
              <a:buChar char="•"/>
            </a:pPr>
            <a:r>
              <a:rPr lang="en-US" sz="1786" spc="-35">
                <a:solidFill>
                  <a:srgbClr val="000000"/>
                </a:solidFill>
                <a:latin typeface="Poppins"/>
                <a:ea typeface="Poppins"/>
                <a:cs typeface="Poppins"/>
                <a:sym typeface="Poppins"/>
              </a:rPr>
              <a:t>Fast and efficient performance</a:t>
            </a:r>
          </a:p>
          <a:p>
            <a:pPr algn="l" marL="385740" indent="-192870" lvl="1">
              <a:lnSpc>
                <a:spcPts val="2143"/>
              </a:lnSpc>
              <a:buFont typeface="Arial"/>
              <a:buChar char="•"/>
            </a:pPr>
            <a:r>
              <a:rPr lang="en-US" sz="1786" spc="-35">
                <a:solidFill>
                  <a:srgbClr val="000000"/>
                </a:solidFill>
                <a:latin typeface="Poppins"/>
                <a:ea typeface="Poppins"/>
                <a:cs typeface="Poppins"/>
                <a:sym typeface="Poppins"/>
              </a:rPr>
              <a:t>Programmed using Arduino IDE</a:t>
            </a:r>
          </a:p>
          <a:p>
            <a:pPr algn="l">
              <a:lnSpc>
                <a:spcPts val="2143"/>
              </a:lnSpc>
            </a:pPr>
          </a:p>
        </p:txBody>
      </p:sp>
      <p:sp>
        <p:nvSpPr>
          <p:cNvPr name="TextBox 11" id="11"/>
          <p:cNvSpPr txBox="true"/>
          <p:nvPr/>
        </p:nvSpPr>
        <p:spPr>
          <a:xfrm rot="0">
            <a:off x="14007261" y="1351241"/>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
        <p:nvSpPr>
          <p:cNvPr name="Freeform 12" id="12"/>
          <p:cNvSpPr/>
          <p:nvPr/>
        </p:nvSpPr>
        <p:spPr>
          <a:xfrm flipH="false" flipV="false" rot="0">
            <a:off x="2091412" y="3073264"/>
            <a:ext cx="3832064" cy="5719499"/>
          </a:xfrm>
          <a:custGeom>
            <a:avLst/>
            <a:gdLst/>
            <a:ahLst/>
            <a:cxnLst/>
            <a:rect r="r" b="b" t="t" l="l"/>
            <a:pathLst>
              <a:path h="5719499" w="3832064">
                <a:moveTo>
                  <a:pt x="0" y="0"/>
                </a:moveTo>
                <a:lnTo>
                  <a:pt x="3832065" y="0"/>
                </a:lnTo>
                <a:lnTo>
                  <a:pt x="3832065" y="5719499"/>
                </a:lnTo>
                <a:lnTo>
                  <a:pt x="0" y="5719499"/>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10181897" y="2200516"/>
            <a:ext cx="7077403" cy="6200503"/>
            <a:chOff x="0" y="0"/>
            <a:chExt cx="1864007" cy="1633054"/>
          </a:xfrm>
        </p:grpSpPr>
        <p:sp>
          <p:nvSpPr>
            <p:cNvPr name="Freeform 3" id="3"/>
            <p:cNvSpPr/>
            <p:nvPr/>
          </p:nvSpPr>
          <p:spPr>
            <a:xfrm flipH="false" flipV="false" rot="0">
              <a:off x="0" y="0"/>
              <a:ext cx="1864007" cy="1633054"/>
            </a:xfrm>
            <a:custGeom>
              <a:avLst/>
              <a:gdLst/>
              <a:ahLst/>
              <a:cxnLst/>
              <a:rect r="r" b="b" t="t" l="l"/>
              <a:pathLst>
                <a:path h="1633054" w="1864007">
                  <a:moveTo>
                    <a:pt x="10939" y="0"/>
                  </a:moveTo>
                  <a:lnTo>
                    <a:pt x="1853068" y="0"/>
                  </a:lnTo>
                  <a:cubicBezTo>
                    <a:pt x="1855970" y="0"/>
                    <a:pt x="1858752" y="1152"/>
                    <a:pt x="1860803" y="3204"/>
                  </a:cubicBezTo>
                  <a:cubicBezTo>
                    <a:pt x="1862855" y="5255"/>
                    <a:pt x="1864007" y="8038"/>
                    <a:pt x="1864007" y="10939"/>
                  </a:cubicBezTo>
                  <a:lnTo>
                    <a:pt x="1864007" y="1622115"/>
                  </a:lnTo>
                  <a:cubicBezTo>
                    <a:pt x="1864007" y="1628157"/>
                    <a:pt x="1859110" y="1633054"/>
                    <a:pt x="1853068" y="1633054"/>
                  </a:cubicBezTo>
                  <a:lnTo>
                    <a:pt x="10939" y="1633054"/>
                  </a:lnTo>
                  <a:cubicBezTo>
                    <a:pt x="4898" y="1633054"/>
                    <a:pt x="0" y="1628157"/>
                    <a:pt x="0" y="1622115"/>
                  </a:cubicBezTo>
                  <a:lnTo>
                    <a:pt x="0" y="10939"/>
                  </a:lnTo>
                  <a:cubicBezTo>
                    <a:pt x="0" y="4898"/>
                    <a:pt x="4898" y="0"/>
                    <a:pt x="10939" y="0"/>
                  </a:cubicBezTo>
                  <a:close/>
                </a:path>
              </a:pathLst>
            </a:custGeom>
            <a:solidFill>
              <a:srgbClr val="2D661F"/>
            </a:solidFill>
          </p:spPr>
        </p:sp>
        <p:sp>
          <p:nvSpPr>
            <p:cNvPr name="TextBox 4" id="4"/>
            <p:cNvSpPr txBox="true"/>
            <p:nvPr/>
          </p:nvSpPr>
          <p:spPr>
            <a:xfrm>
              <a:off x="0" y="28575"/>
              <a:ext cx="1864007" cy="1604479"/>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1028700" y="5562553"/>
            <a:ext cx="751794" cy="751794"/>
          </a:xfrm>
          <a:custGeom>
            <a:avLst/>
            <a:gdLst/>
            <a:ahLst/>
            <a:cxnLst/>
            <a:rect r="r" b="b" t="t" l="l"/>
            <a:pathLst>
              <a:path h="751794" w="751794">
                <a:moveTo>
                  <a:pt x="0" y="0"/>
                </a:moveTo>
                <a:lnTo>
                  <a:pt x="751794" y="0"/>
                </a:lnTo>
                <a:lnTo>
                  <a:pt x="751794" y="751794"/>
                </a:lnTo>
                <a:lnTo>
                  <a:pt x="0" y="751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61171" y="858663"/>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16566" y="1248332"/>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6"/>
            <a:stretch>
              <a:fillRect l="0" t="0" r="0" b="0"/>
            </a:stretch>
          </a:blipFill>
        </p:spPr>
      </p:sp>
      <p:sp>
        <p:nvSpPr>
          <p:cNvPr name="TextBox 8" id="8"/>
          <p:cNvSpPr txBox="true"/>
          <p:nvPr/>
        </p:nvSpPr>
        <p:spPr>
          <a:xfrm rot="0">
            <a:off x="1028700" y="2771837"/>
            <a:ext cx="2387866" cy="2509519"/>
          </a:xfrm>
          <a:prstGeom prst="rect">
            <a:avLst/>
          </a:prstGeom>
        </p:spPr>
        <p:txBody>
          <a:bodyPr anchor="t" rtlCol="false" tIns="0" lIns="0" bIns="0" rIns="0">
            <a:spAutoFit/>
          </a:bodyPr>
          <a:lstStyle/>
          <a:p>
            <a:pPr algn="l">
              <a:lnSpc>
                <a:spcPts val="2799"/>
              </a:lnSpc>
            </a:pPr>
            <a:r>
              <a:rPr lang="en-US" sz="2799" spc="-55">
                <a:solidFill>
                  <a:srgbClr val="9E3327"/>
                </a:solidFill>
                <a:latin typeface="Poppins"/>
                <a:ea typeface="Poppins"/>
                <a:cs typeface="Poppins"/>
                <a:sym typeface="Poppins"/>
              </a:rPr>
              <a:t>Amperka Octoliner sensor for accurate line detection and path tracking.</a:t>
            </a:r>
          </a:p>
        </p:txBody>
      </p:sp>
      <p:sp>
        <p:nvSpPr>
          <p:cNvPr name="TextBox 9" id="9"/>
          <p:cNvSpPr txBox="true"/>
          <p:nvPr/>
        </p:nvSpPr>
        <p:spPr>
          <a:xfrm rot="0">
            <a:off x="10499766" y="2869811"/>
            <a:ext cx="6559616" cy="2411546"/>
          </a:xfrm>
          <a:prstGeom prst="rect">
            <a:avLst/>
          </a:prstGeom>
        </p:spPr>
        <p:txBody>
          <a:bodyPr anchor="t" rtlCol="false" tIns="0" lIns="0" bIns="0" rIns="0">
            <a:spAutoFit/>
          </a:bodyPr>
          <a:lstStyle/>
          <a:p>
            <a:pPr algn="l">
              <a:lnSpc>
                <a:spcPts val="2397"/>
              </a:lnSpc>
            </a:pPr>
            <a:r>
              <a:rPr lang="en-US" sz="1998" spc="-39">
                <a:solidFill>
                  <a:srgbClr val="000000"/>
                </a:solidFill>
                <a:latin typeface="Poppins"/>
                <a:ea typeface="Poppins"/>
                <a:cs typeface="Poppins"/>
                <a:sym typeface="Poppins"/>
              </a:rPr>
              <a:t>In this project, we used the Amperka Octoliner sensor to detect the black line on the track. The sensor contains multiple infrared detectors that identify the difference between black and white surfaces. The Octoliner continuously sends sensor data to the ESP32 microcontroller, allowing the robot to determine its position relative to the line and adjust movement automatically.</a:t>
            </a:r>
          </a:p>
        </p:txBody>
      </p:sp>
      <p:sp>
        <p:nvSpPr>
          <p:cNvPr name="TextBox 10" id="10"/>
          <p:cNvSpPr txBox="true"/>
          <p:nvPr/>
        </p:nvSpPr>
        <p:spPr>
          <a:xfrm rot="0">
            <a:off x="1028700" y="7225871"/>
            <a:ext cx="8478268" cy="646523"/>
          </a:xfrm>
          <a:prstGeom prst="rect">
            <a:avLst/>
          </a:prstGeom>
        </p:spPr>
        <p:txBody>
          <a:bodyPr anchor="t" rtlCol="false" tIns="0" lIns="0" bIns="0" rIns="0">
            <a:spAutoFit/>
          </a:bodyPr>
          <a:lstStyle/>
          <a:p>
            <a:pPr algn="l">
              <a:lnSpc>
                <a:spcPts val="4635"/>
              </a:lnSpc>
            </a:pPr>
            <a:r>
              <a:rPr lang="en-US" sz="5328" spc="-346">
                <a:solidFill>
                  <a:srgbClr val="2D661F"/>
                </a:solidFill>
                <a:latin typeface="League Spartan"/>
                <a:ea typeface="League Spartan"/>
                <a:cs typeface="League Spartan"/>
                <a:sym typeface="League Spartan"/>
              </a:rPr>
              <a:t>OCTOLINER SENSOR</a:t>
            </a:r>
          </a:p>
        </p:txBody>
      </p:sp>
      <p:sp>
        <p:nvSpPr>
          <p:cNvPr name="TextBox 11" id="11"/>
          <p:cNvSpPr txBox="true"/>
          <p:nvPr/>
        </p:nvSpPr>
        <p:spPr>
          <a:xfrm rot="0">
            <a:off x="1028700" y="8091469"/>
            <a:ext cx="8478268" cy="845077"/>
          </a:xfrm>
          <a:prstGeom prst="rect">
            <a:avLst/>
          </a:prstGeom>
        </p:spPr>
        <p:txBody>
          <a:bodyPr anchor="t" rtlCol="false" tIns="0" lIns="0" bIns="0" rIns="0">
            <a:spAutoFit/>
          </a:bodyPr>
          <a:lstStyle/>
          <a:p>
            <a:pPr algn="l">
              <a:lnSpc>
                <a:spcPts val="6102"/>
              </a:lnSpc>
            </a:pPr>
            <a:r>
              <a:rPr lang="en-US" sz="7013" spc="-455">
                <a:solidFill>
                  <a:srgbClr val="9E3327"/>
                </a:solidFill>
                <a:latin typeface="League Spartan"/>
                <a:ea typeface="League Spartan"/>
                <a:cs typeface="League Spartan"/>
                <a:sym typeface="League Spartan"/>
              </a:rPr>
              <a:t>CONNECTION</a:t>
            </a:r>
          </a:p>
        </p:txBody>
      </p:sp>
      <p:sp>
        <p:nvSpPr>
          <p:cNvPr name="TextBox 12" id="12"/>
          <p:cNvSpPr txBox="true"/>
          <p:nvPr/>
        </p:nvSpPr>
        <p:spPr>
          <a:xfrm rot="0">
            <a:off x="10617716" y="5919400"/>
            <a:ext cx="6441665" cy="1813422"/>
          </a:xfrm>
          <a:prstGeom prst="rect">
            <a:avLst/>
          </a:prstGeom>
        </p:spPr>
        <p:txBody>
          <a:bodyPr anchor="t" rtlCol="false" tIns="0" lIns="0" bIns="0" rIns="0">
            <a:spAutoFit/>
          </a:bodyPr>
          <a:lstStyle/>
          <a:p>
            <a:pPr algn="l" marL="431373" indent="-215686" lvl="1">
              <a:lnSpc>
                <a:spcPts val="2397"/>
              </a:lnSpc>
              <a:buFont typeface="Arial"/>
              <a:buChar char="•"/>
            </a:pPr>
            <a:r>
              <a:rPr lang="en-US" sz="1998" spc="-39">
                <a:solidFill>
                  <a:srgbClr val="000000"/>
                </a:solidFill>
                <a:latin typeface="Poppins"/>
                <a:ea typeface="Poppins"/>
                <a:cs typeface="Poppins"/>
                <a:sym typeface="Poppins"/>
              </a:rPr>
              <a:t>Infrared line detection</a:t>
            </a:r>
          </a:p>
          <a:p>
            <a:pPr algn="l" marL="431373" indent="-215686" lvl="1">
              <a:lnSpc>
                <a:spcPts val="2397"/>
              </a:lnSpc>
              <a:buFont typeface="Arial"/>
              <a:buChar char="•"/>
            </a:pPr>
            <a:r>
              <a:rPr lang="en-US" sz="1998" spc="-39">
                <a:solidFill>
                  <a:srgbClr val="000000"/>
                </a:solidFill>
                <a:latin typeface="Poppins"/>
                <a:ea typeface="Poppins"/>
                <a:cs typeface="Poppins"/>
                <a:sym typeface="Poppins"/>
              </a:rPr>
              <a:t>Multiple sensor channels</a:t>
            </a:r>
          </a:p>
          <a:p>
            <a:pPr algn="l" marL="431373" indent="-215686" lvl="1">
              <a:lnSpc>
                <a:spcPts val="2397"/>
              </a:lnSpc>
              <a:buFont typeface="Arial"/>
              <a:buChar char="•"/>
            </a:pPr>
            <a:r>
              <a:rPr lang="en-US" sz="1998" spc="-39">
                <a:solidFill>
                  <a:srgbClr val="000000"/>
                </a:solidFill>
                <a:latin typeface="Poppins"/>
                <a:ea typeface="Poppins"/>
                <a:cs typeface="Poppins"/>
                <a:sym typeface="Poppins"/>
              </a:rPr>
              <a:t>Real-time data transmission</a:t>
            </a:r>
          </a:p>
          <a:p>
            <a:pPr algn="l" marL="431373" indent="-215686" lvl="1">
              <a:lnSpc>
                <a:spcPts val="2397"/>
              </a:lnSpc>
              <a:buFont typeface="Arial"/>
              <a:buChar char="•"/>
            </a:pPr>
            <a:r>
              <a:rPr lang="en-US" sz="1998" spc="-39">
                <a:solidFill>
                  <a:srgbClr val="000000"/>
                </a:solidFill>
                <a:latin typeface="Poppins"/>
                <a:ea typeface="Poppins"/>
                <a:cs typeface="Poppins"/>
                <a:sym typeface="Poppins"/>
              </a:rPr>
              <a:t>Connected to ESP32</a:t>
            </a:r>
          </a:p>
          <a:p>
            <a:pPr algn="l" marL="431373" indent="-215686" lvl="1">
              <a:lnSpc>
                <a:spcPts val="2397"/>
              </a:lnSpc>
              <a:buFont typeface="Arial"/>
              <a:buChar char="•"/>
            </a:pPr>
            <a:r>
              <a:rPr lang="en-US" sz="1998" spc="-39">
                <a:solidFill>
                  <a:srgbClr val="000000"/>
                </a:solidFill>
                <a:latin typeface="Poppins"/>
                <a:ea typeface="Poppins"/>
                <a:cs typeface="Poppins"/>
                <a:sym typeface="Poppins"/>
              </a:rPr>
              <a:t>Used for autonomous navigation</a:t>
            </a:r>
          </a:p>
          <a:p>
            <a:pPr algn="l">
              <a:lnSpc>
                <a:spcPts val="2397"/>
              </a:lnSpc>
            </a:pPr>
          </a:p>
        </p:txBody>
      </p:sp>
      <p:sp>
        <p:nvSpPr>
          <p:cNvPr name="TextBox 13" id="13"/>
          <p:cNvSpPr txBox="true"/>
          <p:nvPr/>
        </p:nvSpPr>
        <p:spPr>
          <a:xfrm rot="0">
            <a:off x="2401199" y="1075915"/>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7865938" y="2341938"/>
            <a:ext cx="9393362" cy="6391840"/>
            <a:chOff x="0" y="0"/>
            <a:chExt cx="2473972" cy="1683448"/>
          </a:xfrm>
        </p:grpSpPr>
        <p:sp>
          <p:nvSpPr>
            <p:cNvPr name="Freeform 3" id="3"/>
            <p:cNvSpPr/>
            <p:nvPr/>
          </p:nvSpPr>
          <p:spPr>
            <a:xfrm flipH="false" flipV="false" rot="0">
              <a:off x="0" y="0"/>
              <a:ext cx="2473972" cy="1683448"/>
            </a:xfrm>
            <a:custGeom>
              <a:avLst/>
              <a:gdLst/>
              <a:ahLst/>
              <a:cxnLst/>
              <a:rect r="r" b="b" t="t" l="l"/>
              <a:pathLst>
                <a:path h="1683448" w="2473972">
                  <a:moveTo>
                    <a:pt x="8242" y="0"/>
                  </a:moveTo>
                  <a:lnTo>
                    <a:pt x="2465730" y="0"/>
                  </a:lnTo>
                  <a:cubicBezTo>
                    <a:pt x="2467916" y="0"/>
                    <a:pt x="2470012" y="868"/>
                    <a:pt x="2471558" y="2414"/>
                  </a:cubicBezTo>
                  <a:cubicBezTo>
                    <a:pt x="2473104" y="3960"/>
                    <a:pt x="2473972" y="6056"/>
                    <a:pt x="2473972" y="8242"/>
                  </a:cubicBezTo>
                  <a:lnTo>
                    <a:pt x="2473972" y="1675206"/>
                  </a:lnTo>
                  <a:cubicBezTo>
                    <a:pt x="2473972" y="1677392"/>
                    <a:pt x="2473104" y="1679488"/>
                    <a:pt x="2471558" y="1681034"/>
                  </a:cubicBezTo>
                  <a:cubicBezTo>
                    <a:pt x="2470012" y="1682579"/>
                    <a:pt x="2467916" y="1683448"/>
                    <a:pt x="2465730" y="1683448"/>
                  </a:cubicBezTo>
                  <a:lnTo>
                    <a:pt x="8242" y="1683448"/>
                  </a:lnTo>
                  <a:cubicBezTo>
                    <a:pt x="6056" y="1683448"/>
                    <a:pt x="3960" y="1682579"/>
                    <a:pt x="2414" y="1681034"/>
                  </a:cubicBezTo>
                  <a:cubicBezTo>
                    <a:pt x="868" y="1679488"/>
                    <a:pt x="0" y="1677392"/>
                    <a:pt x="0" y="1675206"/>
                  </a:cubicBezTo>
                  <a:lnTo>
                    <a:pt x="0" y="8242"/>
                  </a:lnTo>
                  <a:cubicBezTo>
                    <a:pt x="0" y="6056"/>
                    <a:pt x="868" y="3960"/>
                    <a:pt x="2414" y="2414"/>
                  </a:cubicBezTo>
                  <a:cubicBezTo>
                    <a:pt x="3960" y="868"/>
                    <a:pt x="6056" y="0"/>
                    <a:pt x="8242" y="0"/>
                  </a:cubicBezTo>
                  <a:close/>
                </a:path>
              </a:pathLst>
            </a:custGeom>
            <a:solidFill>
              <a:srgbClr val="2D661F"/>
            </a:solidFill>
          </p:spPr>
        </p:sp>
        <p:sp>
          <p:nvSpPr>
            <p:cNvPr name="TextBox 4" id="4"/>
            <p:cNvSpPr txBox="true"/>
            <p:nvPr/>
          </p:nvSpPr>
          <p:spPr>
            <a:xfrm>
              <a:off x="0" y="28575"/>
              <a:ext cx="2473972" cy="1654873"/>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15341150" y="7267225"/>
            <a:ext cx="995933" cy="995933"/>
          </a:xfrm>
          <a:custGeom>
            <a:avLst/>
            <a:gdLst/>
            <a:ahLst/>
            <a:cxnLst/>
            <a:rect r="r" b="b" t="t" l="l"/>
            <a:pathLst>
              <a:path h="995933" w="995933">
                <a:moveTo>
                  <a:pt x="0" y="0"/>
                </a:moveTo>
                <a:lnTo>
                  <a:pt x="995933" y="0"/>
                </a:lnTo>
                <a:lnTo>
                  <a:pt x="995933" y="995932"/>
                </a:lnTo>
                <a:lnTo>
                  <a:pt x="0" y="9959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73144" y="1534147"/>
            <a:ext cx="5981843" cy="807791"/>
            <a:chOff x="0" y="0"/>
            <a:chExt cx="1575465" cy="212752"/>
          </a:xfrm>
        </p:grpSpPr>
        <p:sp>
          <p:nvSpPr>
            <p:cNvPr name="Freeform 7" id="7"/>
            <p:cNvSpPr/>
            <p:nvPr/>
          </p:nvSpPr>
          <p:spPr>
            <a:xfrm flipH="false" flipV="false" rot="0">
              <a:off x="0" y="0"/>
              <a:ext cx="1575465" cy="212752"/>
            </a:xfrm>
            <a:custGeom>
              <a:avLst/>
              <a:gdLst/>
              <a:ahLst/>
              <a:cxnLst/>
              <a:rect r="r" b="b" t="t" l="l"/>
              <a:pathLst>
                <a:path h="212752" w="1575465">
                  <a:moveTo>
                    <a:pt x="12942" y="0"/>
                  </a:moveTo>
                  <a:lnTo>
                    <a:pt x="1562522" y="0"/>
                  </a:lnTo>
                  <a:cubicBezTo>
                    <a:pt x="1569670" y="0"/>
                    <a:pt x="1575465" y="5794"/>
                    <a:pt x="1575465" y="12942"/>
                  </a:cubicBezTo>
                  <a:lnTo>
                    <a:pt x="1575465" y="199809"/>
                  </a:lnTo>
                  <a:cubicBezTo>
                    <a:pt x="1575465" y="206957"/>
                    <a:pt x="1569670" y="212752"/>
                    <a:pt x="1562522" y="212752"/>
                  </a:cubicBezTo>
                  <a:lnTo>
                    <a:pt x="12942" y="212752"/>
                  </a:lnTo>
                  <a:cubicBezTo>
                    <a:pt x="5794" y="212752"/>
                    <a:pt x="0" y="206957"/>
                    <a:pt x="0" y="199809"/>
                  </a:cubicBezTo>
                  <a:lnTo>
                    <a:pt x="0" y="12942"/>
                  </a:lnTo>
                  <a:cubicBezTo>
                    <a:pt x="0" y="5794"/>
                    <a:pt x="5794" y="0"/>
                    <a:pt x="12942" y="0"/>
                  </a:cubicBezTo>
                  <a:close/>
                </a:path>
              </a:pathLst>
            </a:custGeom>
            <a:solidFill>
              <a:srgbClr val="9E3327"/>
            </a:solidFill>
            <a:ln cap="sq">
              <a:noFill/>
              <a:prstDash val="solid"/>
              <a:miter/>
            </a:ln>
          </p:spPr>
        </p:sp>
        <p:sp>
          <p:nvSpPr>
            <p:cNvPr name="TextBox 8" id="8"/>
            <p:cNvSpPr txBox="true"/>
            <p:nvPr/>
          </p:nvSpPr>
          <p:spPr>
            <a:xfrm>
              <a:off x="0" y="28575"/>
              <a:ext cx="1575465" cy="184177"/>
            </a:xfrm>
            <a:prstGeom prst="rect">
              <a:avLst/>
            </a:prstGeom>
          </p:spPr>
          <p:txBody>
            <a:bodyPr anchor="ctr" rtlCol="false" tIns="50800" lIns="50800" bIns="50800" rIns="50800"/>
            <a:lstStyle/>
            <a:p>
              <a:pPr algn="ctr">
                <a:lnSpc>
                  <a:spcPts val="1134"/>
                </a:lnSpc>
              </a:pPr>
            </a:p>
          </p:txBody>
        </p:sp>
      </p:grpSp>
      <p:grpSp>
        <p:nvGrpSpPr>
          <p:cNvPr name="Group 9" id="9"/>
          <p:cNvGrpSpPr/>
          <p:nvPr/>
        </p:nvGrpSpPr>
        <p:grpSpPr>
          <a:xfrm rot="0">
            <a:off x="850503" y="6796604"/>
            <a:ext cx="2881476" cy="1937175"/>
            <a:chOff x="0" y="0"/>
            <a:chExt cx="758907" cy="510202"/>
          </a:xfrm>
        </p:grpSpPr>
        <p:sp>
          <p:nvSpPr>
            <p:cNvPr name="Freeform 10" id="10"/>
            <p:cNvSpPr/>
            <p:nvPr/>
          </p:nvSpPr>
          <p:spPr>
            <a:xfrm flipH="false" flipV="false" rot="0">
              <a:off x="0" y="0"/>
              <a:ext cx="758907" cy="510202"/>
            </a:xfrm>
            <a:custGeom>
              <a:avLst/>
              <a:gdLst/>
              <a:ahLst/>
              <a:cxnLst/>
              <a:rect r="r" b="b" t="t" l="l"/>
              <a:pathLst>
                <a:path h="510202" w="758907">
                  <a:moveTo>
                    <a:pt x="26868" y="0"/>
                  </a:moveTo>
                  <a:lnTo>
                    <a:pt x="732039" y="0"/>
                  </a:lnTo>
                  <a:cubicBezTo>
                    <a:pt x="739165" y="0"/>
                    <a:pt x="745999" y="2831"/>
                    <a:pt x="751038" y="7869"/>
                  </a:cubicBezTo>
                  <a:cubicBezTo>
                    <a:pt x="756077" y="12908"/>
                    <a:pt x="758907" y="19742"/>
                    <a:pt x="758907" y="26868"/>
                  </a:cubicBezTo>
                  <a:lnTo>
                    <a:pt x="758907" y="483334"/>
                  </a:lnTo>
                  <a:cubicBezTo>
                    <a:pt x="758907" y="490460"/>
                    <a:pt x="756077" y="497294"/>
                    <a:pt x="751038" y="502333"/>
                  </a:cubicBezTo>
                  <a:cubicBezTo>
                    <a:pt x="745999" y="507372"/>
                    <a:pt x="739165" y="510202"/>
                    <a:pt x="732039" y="510202"/>
                  </a:cubicBezTo>
                  <a:lnTo>
                    <a:pt x="26868" y="510202"/>
                  </a:lnTo>
                  <a:cubicBezTo>
                    <a:pt x="12029" y="510202"/>
                    <a:pt x="0" y="498173"/>
                    <a:pt x="0" y="483334"/>
                  </a:cubicBezTo>
                  <a:lnTo>
                    <a:pt x="0" y="26868"/>
                  </a:lnTo>
                  <a:cubicBezTo>
                    <a:pt x="0" y="19742"/>
                    <a:pt x="2831" y="12908"/>
                    <a:pt x="7869" y="7869"/>
                  </a:cubicBezTo>
                  <a:cubicBezTo>
                    <a:pt x="12908" y="2831"/>
                    <a:pt x="19742" y="0"/>
                    <a:pt x="26868" y="0"/>
                  </a:cubicBezTo>
                  <a:close/>
                </a:path>
              </a:pathLst>
            </a:custGeom>
            <a:solidFill>
              <a:srgbClr val="9E3327"/>
            </a:solidFill>
            <a:ln cap="sq">
              <a:noFill/>
              <a:prstDash val="solid"/>
              <a:miter/>
            </a:ln>
          </p:spPr>
        </p:sp>
        <p:sp>
          <p:nvSpPr>
            <p:cNvPr name="TextBox 11" id="11"/>
            <p:cNvSpPr txBox="true"/>
            <p:nvPr/>
          </p:nvSpPr>
          <p:spPr>
            <a:xfrm>
              <a:off x="0" y="28575"/>
              <a:ext cx="758907" cy="481627"/>
            </a:xfrm>
            <a:prstGeom prst="rect">
              <a:avLst/>
            </a:prstGeom>
          </p:spPr>
          <p:txBody>
            <a:bodyPr anchor="ctr" rtlCol="false" tIns="50800" lIns="50800" bIns="50800" rIns="50800"/>
            <a:lstStyle/>
            <a:p>
              <a:pPr algn="ctr">
                <a:lnSpc>
                  <a:spcPts val="1134"/>
                </a:lnSpc>
              </a:pPr>
            </a:p>
          </p:txBody>
        </p:sp>
      </p:grpSp>
      <p:grpSp>
        <p:nvGrpSpPr>
          <p:cNvPr name="Group 12" id="12"/>
          <p:cNvGrpSpPr/>
          <p:nvPr/>
        </p:nvGrpSpPr>
        <p:grpSpPr>
          <a:xfrm rot="0">
            <a:off x="4469541" y="2853885"/>
            <a:ext cx="2881476" cy="1937175"/>
            <a:chOff x="0" y="0"/>
            <a:chExt cx="758907" cy="510202"/>
          </a:xfrm>
        </p:grpSpPr>
        <p:sp>
          <p:nvSpPr>
            <p:cNvPr name="Freeform 13" id="13"/>
            <p:cNvSpPr/>
            <p:nvPr/>
          </p:nvSpPr>
          <p:spPr>
            <a:xfrm flipH="false" flipV="false" rot="0">
              <a:off x="0" y="0"/>
              <a:ext cx="758907" cy="510202"/>
            </a:xfrm>
            <a:custGeom>
              <a:avLst/>
              <a:gdLst/>
              <a:ahLst/>
              <a:cxnLst/>
              <a:rect r="r" b="b" t="t" l="l"/>
              <a:pathLst>
                <a:path h="510202" w="758907">
                  <a:moveTo>
                    <a:pt x="26868" y="0"/>
                  </a:moveTo>
                  <a:lnTo>
                    <a:pt x="732039" y="0"/>
                  </a:lnTo>
                  <a:cubicBezTo>
                    <a:pt x="739165" y="0"/>
                    <a:pt x="745999" y="2831"/>
                    <a:pt x="751038" y="7869"/>
                  </a:cubicBezTo>
                  <a:cubicBezTo>
                    <a:pt x="756077" y="12908"/>
                    <a:pt x="758907" y="19742"/>
                    <a:pt x="758907" y="26868"/>
                  </a:cubicBezTo>
                  <a:lnTo>
                    <a:pt x="758907" y="483334"/>
                  </a:lnTo>
                  <a:cubicBezTo>
                    <a:pt x="758907" y="490460"/>
                    <a:pt x="756077" y="497294"/>
                    <a:pt x="751038" y="502333"/>
                  </a:cubicBezTo>
                  <a:cubicBezTo>
                    <a:pt x="745999" y="507372"/>
                    <a:pt x="739165" y="510202"/>
                    <a:pt x="732039" y="510202"/>
                  </a:cubicBezTo>
                  <a:lnTo>
                    <a:pt x="26868" y="510202"/>
                  </a:lnTo>
                  <a:cubicBezTo>
                    <a:pt x="12029" y="510202"/>
                    <a:pt x="0" y="498173"/>
                    <a:pt x="0" y="483334"/>
                  </a:cubicBezTo>
                  <a:lnTo>
                    <a:pt x="0" y="26868"/>
                  </a:lnTo>
                  <a:cubicBezTo>
                    <a:pt x="0" y="19742"/>
                    <a:pt x="2831" y="12908"/>
                    <a:pt x="7869" y="7869"/>
                  </a:cubicBezTo>
                  <a:cubicBezTo>
                    <a:pt x="12908" y="2831"/>
                    <a:pt x="19742" y="0"/>
                    <a:pt x="26868" y="0"/>
                  </a:cubicBezTo>
                  <a:close/>
                </a:path>
              </a:pathLst>
            </a:custGeom>
            <a:solidFill>
              <a:srgbClr val="9E3327"/>
            </a:solidFill>
            <a:ln cap="sq">
              <a:noFill/>
              <a:prstDash val="solid"/>
              <a:miter/>
            </a:ln>
          </p:spPr>
        </p:sp>
        <p:sp>
          <p:nvSpPr>
            <p:cNvPr name="TextBox 14" id="14"/>
            <p:cNvSpPr txBox="true"/>
            <p:nvPr/>
          </p:nvSpPr>
          <p:spPr>
            <a:xfrm>
              <a:off x="0" y="28575"/>
              <a:ext cx="758907" cy="481627"/>
            </a:xfrm>
            <a:prstGeom prst="rect">
              <a:avLst/>
            </a:prstGeom>
          </p:spPr>
          <p:txBody>
            <a:bodyPr anchor="ctr" rtlCol="false" tIns="50800" lIns="50800" bIns="50800" rIns="50800"/>
            <a:lstStyle/>
            <a:p>
              <a:pPr algn="ctr">
                <a:lnSpc>
                  <a:spcPts val="1134"/>
                </a:lnSpc>
              </a:pPr>
            </a:p>
          </p:txBody>
        </p:sp>
      </p:grpSp>
      <p:sp>
        <p:nvSpPr>
          <p:cNvPr name="Freeform 15" id="15"/>
          <p:cNvSpPr/>
          <p:nvPr/>
        </p:nvSpPr>
        <p:spPr>
          <a:xfrm flipH="false" flipV="false" rot="5952184">
            <a:off x="4152109" y="5676345"/>
            <a:ext cx="3293699" cy="2721162"/>
          </a:xfrm>
          <a:custGeom>
            <a:avLst/>
            <a:gdLst/>
            <a:ahLst/>
            <a:cxnLst/>
            <a:rect r="r" b="b" t="t" l="l"/>
            <a:pathLst>
              <a:path h="2721162" w="3293699">
                <a:moveTo>
                  <a:pt x="0" y="0"/>
                </a:moveTo>
                <a:lnTo>
                  <a:pt x="3293699" y="0"/>
                </a:lnTo>
                <a:lnTo>
                  <a:pt x="3293699" y="2721162"/>
                </a:lnTo>
                <a:lnTo>
                  <a:pt x="0" y="2721162"/>
                </a:lnTo>
                <a:lnTo>
                  <a:pt x="0" y="0"/>
                </a:lnTo>
                <a:close/>
              </a:path>
            </a:pathLst>
          </a:custGeom>
          <a:blipFill>
            <a:blip r:embed="rId4"/>
            <a:stretch>
              <a:fillRect l="0" t="0" r="0" b="0"/>
            </a:stretch>
          </a:blipFill>
        </p:spPr>
      </p:sp>
      <p:sp>
        <p:nvSpPr>
          <p:cNvPr name="Freeform 16" id="16"/>
          <p:cNvSpPr/>
          <p:nvPr/>
        </p:nvSpPr>
        <p:spPr>
          <a:xfrm flipH="false" flipV="false" rot="0">
            <a:off x="16332618" y="946932"/>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501915" y="2609081"/>
            <a:ext cx="3431301" cy="3754593"/>
          </a:xfrm>
          <a:custGeom>
            <a:avLst/>
            <a:gdLst/>
            <a:ahLst/>
            <a:cxnLst/>
            <a:rect r="r" b="b" t="t" l="l"/>
            <a:pathLst>
              <a:path h="3754593" w="3431301">
                <a:moveTo>
                  <a:pt x="0" y="0"/>
                </a:moveTo>
                <a:lnTo>
                  <a:pt x="3431301" y="0"/>
                </a:lnTo>
                <a:lnTo>
                  <a:pt x="3431301" y="3754593"/>
                </a:lnTo>
                <a:lnTo>
                  <a:pt x="0" y="3754593"/>
                </a:lnTo>
                <a:lnTo>
                  <a:pt x="0" y="0"/>
                </a:lnTo>
                <a:close/>
              </a:path>
            </a:pathLst>
          </a:custGeom>
          <a:blipFill>
            <a:blip r:embed="rId7"/>
            <a:stretch>
              <a:fillRect l="0" t="0" r="0" b="0"/>
            </a:stretch>
          </a:blipFill>
        </p:spPr>
      </p:sp>
      <p:sp>
        <p:nvSpPr>
          <p:cNvPr name="TextBox 18" id="18"/>
          <p:cNvSpPr txBox="true"/>
          <p:nvPr/>
        </p:nvSpPr>
        <p:spPr>
          <a:xfrm rot="0">
            <a:off x="8643944" y="2780531"/>
            <a:ext cx="7562133" cy="1241239"/>
          </a:xfrm>
          <a:prstGeom prst="rect">
            <a:avLst/>
          </a:prstGeom>
        </p:spPr>
        <p:txBody>
          <a:bodyPr anchor="t" rtlCol="false" tIns="0" lIns="0" bIns="0" rIns="0">
            <a:spAutoFit/>
          </a:bodyPr>
          <a:lstStyle/>
          <a:p>
            <a:pPr algn="l">
              <a:lnSpc>
                <a:spcPts val="4686"/>
              </a:lnSpc>
            </a:pPr>
            <a:r>
              <a:rPr lang="en-US" sz="5386" spc="-350">
                <a:solidFill>
                  <a:srgbClr val="969385"/>
                </a:solidFill>
                <a:latin typeface="League Spartan"/>
                <a:ea typeface="League Spartan"/>
                <a:cs typeface="League Spartan"/>
                <a:sym typeface="League Spartan"/>
              </a:rPr>
              <a:t>MOTOR DRIVER AND MOTORS</a:t>
            </a:r>
          </a:p>
        </p:txBody>
      </p:sp>
      <p:sp>
        <p:nvSpPr>
          <p:cNvPr name="TextBox 19" id="19"/>
          <p:cNvSpPr txBox="true"/>
          <p:nvPr/>
        </p:nvSpPr>
        <p:spPr>
          <a:xfrm rot="0">
            <a:off x="1028700" y="1754845"/>
            <a:ext cx="5981843" cy="394969"/>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Mo</a:t>
            </a:r>
            <a:r>
              <a:rPr lang="en-US" sz="2799" spc="-55">
                <a:solidFill>
                  <a:srgbClr val="969385"/>
                </a:solidFill>
                <a:latin typeface="Poppins"/>
                <a:ea typeface="Poppins"/>
                <a:cs typeface="Poppins"/>
                <a:sym typeface="Poppins"/>
              </a:rPr>
              <a:t>tor Driver Connection</a:t>
            </a:r>
          </a:p>
        </p:txBody>
      </p:sp>
      <p:sp>
        <p:nvSpPr>
          <p:cNvPr name="TextBox 20" id="20"/>
          <p:cNvSpPr txBox="true"/>
          <p:nvPr/>
        </p:nvSpPr>
        <p:spPr>
          <a:xfrm rot="0">
            <a:off x="8348388" y="4169083"/>
            <a:ext cx="3887706" cy="4351976"/>
          </a:xfrm>
          <a:prstGeom prst="rect">
            <a:avLst/>
          </a:prstGeom>
        </p:spPr>
        <p:txBody>
          <a:bodyPr anchor="t" rtlCol="false" tIns="0" lIns="0" bIns="0" rIns="0">
            <a:spAutoFit/>
          </a:bodyPr>
          <a:lstStyle/>
          <a:p>
            <a:pPr algn="l">
              <a:lnSpc>
                <a:spcPts val="2171"/>
              </a:lnSpc>
            </a:pPr>
            <a:r>
              <a:rPr lang="en-US" sz="1809" spc="-36">
                <a:solidFill>
                  <a:srgbClr val="000000"/>
                </a:solidFill>
                <a:latin typeface="Poppins"/>
                <a:ea typeface="Poppins"/>
                <a:cs typeface="Poppins"/>
                <a:sym typeface="Poppins"/>
              </a:rPr>
              <a:t>IIn this project, we used the ZK-5AD motor driver to control the movement of the robot. The motor driver receives signals from the ESP32 microcontroller and controls the direction and speed of the DC motors. It acts as an interface between the controller and the motors, providing stable power distribution and efficient motor operation during movement.</a:t>
            </a:r>
          </a:p>
          <a:p>
            <a:pPr algn="l">
              <a:lnSpc>
                <a:spcPts val="2171"/>
              </a:lnSpc>
            </a:pPr>
            <a:r>
              <a:rPr lang="en-US" sz="1809" spc="-36">
                <a:solidFill>
                  <a:srgbClr val="000000"/>
                </a:solidFill>
                <a:latin typeface="Poppins"/>
                <a:ea typeface="Poppins"/>
                <a:cs typeface="Poppins"/>
                <a:sym typeface="Poppins"/>
              </a:rPr>
              <a:t>The ZK-5AD driver allows the robot to move forward, turn left, and turn right according to the sensor data received from the Octoliner module.</a:t>
            </a:r>
          </a:p>
        </p:txBody>
      </p:sp>
      <p:sp>
        <p:nvSpPr>
          <p:cNvPr name="TextBox 21" id="21"/>
          <p:cNvSpPr txBox="true"/>
          <p:nvPr/>
        </p:nvSpPr>
        <p:spPr>
          <a:xfrm rot="0">
            <a:off x="703151" y="7610936"/>
            <a:ext cx="3028828" cy="337086"/>
          </a:xfrm>
          <a:prstGeom prst="rect">
            <a:avLst/>
          </a:prstGeom>
        </p:spPr>
        <p:txBody>
          <a:bodyPr anchor="t" rtlCol="false" tIns="0" lIns="0" bIns="0" rIns="0">
            <a:spAutoFit/>
          </a:bodyPr>
          <a:lstStyle/>
          <a:p>
            <a:pPr algn="ctr">
              <a:lnSpc>
                <a:spcPts val="2399"/>
              </a:lnSpc>
            </a:pPr>
            <a:r>
              <a:rPr lang="en-US" sz="2399" spc="-47">
                <a:solidFill>
                  <a:srgbClr val="969385"/>
                </a:solidFill>
                <a:latin typeface="Poppins"/>
                <a:ea typeface="Poppins"/>
                <a:cs typeface="Poppins"/>
                <a:sym typeface="Poppins"/>
              </a:rPr>
              <a:t>DC mo</a:t>
            </a:r>
            <a:r>
              <a:rPr lang="en-US" sz="2399" spc="-47">
                <a:solidFill>
                  <a:srgbClr val="969385"/>
                </a:solidFill>
                <a:latin typeface="Poppins"/>
                <a:ea typeface="Poppins"/>
                <a:cs typeface="Poppins"/>
                <a:sym typeface="Poppins"/>
              </a:rPr>
              <a:t>tors</a:t>
            </a:r>
          </a:p>
        </p:txBody>
      </p:sp>
      <p:sp>
        <p:nvSpPr>
          <p:cNvPr name="TextBox 22" id="22"/>
          <p:cNvSpPr txBox="true"/>
          <p:nvPr/>
        </p:nvSpPr>
        <p:spPr>
          <a:xfrm rot="0">
            <a:off x="4678570" y="3438669"/>
            <a:ext cx="2376417" cy="749464"/>
          </a:xfrm>
          <a:prstGeom prst="rect">
            <a:avLst/>
          </a:prstGeom>
        </p:spPr>
        <p:txBody>
          <a:bodyPr anchor="t" rtlCol="false" tIns="0" lIns="0" bIns="0" rIns="0">
            <a:spAutoFit/>
          </a:bodyPr>
          <a:lstStyle/>
          <a:p>
            <a:pPr algn="ctr">
              <a:lnSpc>
                <a:spcPts val="2750"/>
              </a:lnSpc>
            </a:pPr>
            <a:r>
              <a:rPr lang="en-US" sz="2750" spc="-55">
                <a:solidFill>
                  <a:srgbClr val="969385"/>
                </a:solidFill>
                <a:latin typeface="Poppins"/>
                <a:ea typeface="Poppins"/>
                <a:cs typeface="Poppins"/>
                <a:sym typeface="Poppins"/>
              </a:rPr>
              <a:t> ZK-5AD</a:t>
            </a:r>
            <a:r>
              <a:rPr lang="en-US" sz="2750" spc="-55">
                <a:solidFill>
                  <a:srgbClr val="969385"/>
                </a:solidFill>
                <a:latin typeface="Poppins"/>
                <a:ea typeface="Poppins"/>
                <a:cs typeface="Poppins"/>
                <a:sym typeface="Poppins"/>
              </a:rPr>
              <a:t> Motor Driver</a:t>
            </a:r>
          </a:p>
        </p:txBody>
      </p:sp>
      <p:sp>
        <p:nvSpPr>
          <p:cNvPr name="TextBox 23" id="23"/>
          <p:cNvSpPr txBox="true"/>
          <p:nvPr/>
        </p:nvSpPr>
        <p:spPr>
          <a:xfrm rot="0">
            <a:off x="12425010" y="4169083"/>
            <a:ext cx="4527519" cy="2867843"/>
          </a:xfrm>
          <a:prstGeom prst="rect">
            <a:avLst/>
          </a:prstGeom>
        </p:spPr>
        <p:txBody>
          <a:bodyPr anchor="t" rtlCol="false" tIns="0" lIns="0" bIns="0" rIns="0">
            <a:spAutoFit/>
          </a:bodyPr>
          <a:lstStyle/>
          <a:p>
            <a:pPr algn="l" marL="456573" indent="-228286" lvl="1">
              <a:lnSpc>
                <a:spcPts val="2537"/>
              </a:lnSpc>
              <a:buFont typeface="Arial"/>
              <a:buChar char="•"/>
            </a:pPr>
            <a:r>
              <a:rPr lang="en-US" sz="2114" spc="-42">
                <a:solidFill>
                  <a:srgbClr val="000000"/>
                </a:solidFill>
                <a:latin typeface="Poppins"/>
                <a:ea typeface="Poppins"/>
                <a:cs typeface="Poppins"/>
                <a:sym typeface="Poppins"/>
              </a:rPr>
              <a:t>Dual motor control</a:t>
            </a:r>
          </a:p>
          <a:p>
            <a:pPr algn="l" marL="456573" indent="-228286" lvl="1">
              <a:lnSpc>
                <a:spcPts val="2537"/>
              </a:lnSpc>
              <a:buFont typeface="Arial"/>
              <a:buChar char="•"/>
            </a:pPr>
            <a:r>
              <a:rPr lang="en-US" sz="2114" spc="-42">
                <a:solidFill>
                  <a:srgbClr val="000000"/>
                </a:solidFill>
                <a:latin typeface="Poppins"/>
                <a:ea typeface="Poppins"/>
                <a:cs typeface="Poppins"/>
                <a:sym typeface="Poppins"/>
              </a:rPr>
              <a:t>Receives commands from ESP32</a:t>
            </a:r>
          </a:p>
          <a:p>
            <a:pPr algn="l" marL="456573" indent="-228286" lvl="1">
              <a:lnSpc>
                <a:spcPts val="2537"/>
              </a:lnSpc>
              <a:buFont typeface="Arial"/>
              <a:buChar char="•"/>
            </a:pPr>
            <a:r>
              <a:rPr lang="en-US" sz="2114" spc="-42">
                <a:solidFill>
                  <a:srgbClr val="000000"/>
                </a:solidFill>
                <a:latin typeface="Poppins"/>
                <a:ea typeface="Poppins"/>
                <a:cs typeface="Poppins"/>
                <a:sym typeface="Poppins"/>
              </a:rPr>
              <a:t>Controls motor direction</a:t>
            </a:r>
          </a:p>
          <a:p>
            <a:pPr algn="l" marL="456573" indent="-228286" lvl="1">
              <a:lnSpc>
                <a:spcPts val="2537"/>
              </a:lnSpc>
              <a:buFont typeface="Arial"/>
              <a:buChar char="•"/>
            </a:pPr>
            <a:r>
              <a:rPr lang="en-US" sz="2114" spc="-42">
                <a:solidFill>
                  <a:srgbClr val="000000"/>
                </a:solidFill>
                <a:latin typeface="Poppins"/>
                <a:ea typeface="Poppins"/>
                <a:cs typeface="Poppins"/>
                <a:sym typeface="Poppins"/>
              </a:rPr>
              <a:t>Controls motor speed</a:t>
            </a:r>
          </a:p>
          <a:p>
            <a:pPr algn="l" marL="456573" indent="-228286" lvl="1">
              <a:lnSpc>
                <a:spcPts val="2537"/>
              </a:lnSpc>
              <a:buFont typeface="Arial"/>
              <a:buChar char="•"/>
            </a:pPr>
            <a:r>
              <a:rPr lang="en-US" sz="2114" spc="-42">
                <a:solidFill>
                  <a:srgbClr val="000000"/>
                </a:solidFill>
                <a:latin typeface="Poppins"/>
                <a:ea typeface="Poppins"/>
                <a:cs typeface="Poppins"/>
                <a:sym typeface="Poppins"/>
              </a:rPr>
              <a:t>Powered by external battery</a:t>
            </a:r>
          </a:p>
          <a:p>
            <a:pPr algn="l" marL="456573" indent="-228286" lvl="1">
              <a:lnSpc>
                <a:spcPts val="2537"/>
              </a:lnSpc>
              <a:buFont typeface="Arial"/>
              <a:buChar char="•"/>
            </a:pPr>
            <a:r>
              <a:rPr lang="en-US" sz="2114" spc="-42">
                <a:solidFill>
                  <a:srgbClr val="000000"/>
                </a:solidFill>
                <a:latin typeface="Poppins"/>
                <a:ea typeface="Poppins"/>
                <a:cs typeface="Poppins"/>
                <a:sym typeface="Poppins"/>
              </a:rPr>
              <a:t>Used for autonomous robot movement</a:t>
            </a:r>
          </a:p>
          <a:p>
            <a:pPr algn="l">
              <a:lnSpc>
                <a:spcPts val="2537"/>
              </a:lnSpc>
            </a:pPr>
          </a:p>
        </p:txBody>
      </p:sp>
      <p:sp>
        <p:nvSpPr>
          <p:cNvPr name="TextBox 24" id="24"/>
          <p:cNvSpPr txBox="true"/>
          <p:nvPr/>
        </p:nvSpPr>
        <p:spPr>
          <a:xfrm rot="0">
            <a:off x="14085894" y="1164184"/>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1028700" y="2205993"/>
            <a:ext cx="7469659" cy="3794912"/>
            <a:chOff x="0" y="0"/>
            <a:chExt cx="1967318" cy="999483"/>
          </a:xfrm>
        </p:grpSpPr>
        <p:sp>
          <p:nvSpPr>
            <p:cNvPr name="Freeform 3" id="3"/>
            <p:cNvSpPr/>
            <p:nvPr/>
          </p:nvSpPr>
          <p:spPr>
            <a:xfrm flipH="false" flipV="false" rot="0">
              <a:off x="0" y="0"/>
              <a:ext cx="1967318" cy="999483"/>
            </a:xfrm>
            <a:custGeom>
              <a:avLst/>
              <a:gdLst/>
              <a:ahLst/>
              <a:cxnLst/>
              <a:rect r="r" b="b" t="t" l="l"/>
              <a:pathLst>
                <a:path h="999483" w="1967318">
                  <a:moveTo>
                    <a:pt x="10364" y="0"/>
                  </a:moveTo>
                  <a:lnTo>
                    <a:pt x="1956953" y="0"/>
                  </a:lnTo>
                  <a:cubicBezTo>
                    <a:pt x="1959702" y="0"/>
                    <a:pt x="1962338" y="1092"/>
                    <a:pt x="1964282" y="3036"/>
                  </a:cubicBezTo>
                  <a:cubicBezTo>
                    <a:pt x="1966226" y="4979"/>
                    <a:pt x="1967318" y="7616"/>
                    <a:pt x="1967318" y="10364"/>
                  </a:cubicBezTo>
                  <a:lnTo>
                    <a:pt x="1967318" y="989119"/>
                  </a:lnTo>
                  <a:cubicBezTo>
                    <a:pt x="1967318" y="994843"/>
                    <a:pt x="1962677" y="999483"/>
                    <a:pt x="1956953" y="999483"/>
                  </a:cubicBezTo>
                  <a:lnTo>
                    <a:pt x="10364" y="999483"/>
                  </a:lnTo>
                  <a:cubicBezTo>
                    <a:pt x="7616" y="999483"/>
                    <a:pt x="4979" y="998391"/>
                    <a:pt x="3036" y="996447"/>
                  </a:cubicBezTo>
                  <a:cubicBezTo>
                    <a:pt x="1092" y="994504"/>
                    <a:pt x="0" y="991867"/>
                    <a:pt x="0" y="989119"/>
                  </a:cubicBezTo>
                  <a:lnTo>
                    <a:pt x="0" y="10364"/>
                  </a:lnTo>
                  <a:cubicBezTo>
                    <a:pt x="0" y="7616"/>
                    <a:pt x="1092" y="4979"/>
                    <a:pt x="3036" y="3036"/>
                  </a:cubicBezTo>
                  <a:cubicBezTo>
                    <a:pt x="4979" y="1092"/>
                    <a:pt x="7616" y="0"/>
                    <a:pt x="10364" y="0"/>
                  </a:cubicBezTo>
                  <a:close/>
                </a:path>
              </a:pathLst>
            </a:custGeom>
            <a:solidFill>
              <a:srgbClr val="9E3327"/>
            </a:solidFill>
          </p:spPr>
        </p:sp>
        <p:sp>
          <p:nvSpPr>
            <p:cNvPr name="TextBox 4" id="4"/>
            <p:cNvSpPr txBox="true"/>
            <p:nvPr/>
          </p:nvSpPr>
          <p:spPr>
            <a:xfrm>
              <a:off x="0" y="28575"/>
              <a:ext cx="1967318" cy="970908"/>
            </a:xfrm>
            <a:prstGeom prst="rect">
              <a:avLst/>
            </a:prstGeom>
          </p:spPr>
          <p:txBody>
            <a:bodyPr anchor="ctr" rtlCol="false" tIns="50800" lIns="50800" bIns="50800" rIns="50800"/>
            <a:lstStyle/>
            <a:p>
              <a:pPr algn="ctr">
                <a:lnSpc>
                  <a:spcPts val="1134"/>
                </a:lnSpc>
              </a:pPr>
            </a:p>
          </p:txBody>
        </p:sp>
      </p:grpSp>
      <p:sp>
        <p:nvSpPr>
          <p:cNvPr name="TextBox 5" id="5"/>
          <p:cNvSpPr txBox="true"/>
          <p:nvPr/>
        </p:nvSpPr>
        <p:spPr>
          <a:xfrm rot="0">
            <a:off x="1028700" y="7091752"/>
            <a:ext cx="7469659" cy="1632082"/>
          </a:xfrm>
          <a:prstGeom prst="rect">
            <a:avLst/>
          </a:prstGeom>
        </p:spPr>
        <p:txBody>
          <a:bodyPr anchor="t" rtlCol="false" tIns="0" lIns="0" bIns="0" rIns="0">
            <a:spAutoFit/>
          </a:bodyPr>
          <a:lstStyle/>
          <a:p>
            <a:pPr algn="l">
              <a:lnSpc>
                <a:spcPts val="6198"/>
              </a:lnSpc>
            </a:pPr>
            <a:r>
              <a:rPr lang="en-US" sz="7124" spc="-463">
                <a:solidFill>
                  <a:srgbClr val="2D661F"/>
                </a:solidFill>
                <a:latin typeface="League Spartan"/>
                <a:ea typeface="League Spartan"/>
                <a:cs typeface="League Spartan"/>
                <a:sym typeface="League Spartan"/>
              </a:rPr>
              <a:t>SOFTWARE</a:t>
            </a:r>
            <a:r>
              <a:rPr lang="en-US" sz="7124" spc="-463">
                <a:solidFill>
                  <a:srgbClr val="000000"/>
                </a:solidFill>
                <a:latin typeface="League Spartan"/>
                <a:ea typeface="League Spartan"/>
                <a:cs typeface="League Spartan"/>
                <a:sym typeface="League Spartan"/>
              </a:rPr>
              <a:t> </a:t>
            </a:r>
            <a:r>
              <a:rPr lang="en-US" sz="7124" spc="-463">
                <a:solidFill>
                  <a:srgbClr val="9E3327"/>
                </a:solidFill>
                <a:latin typeface="League Spartan"/>
                <a:ea typeface="League Spartan"/>
                <a:cs typeface="League Spartan"/>
                <a:sym typeface="League Spartan"/>
              </a:rPr>
              <a:t>ALGORITHM</a:t>
            </a:r>
          </a:p>
        </p:txBody>
      </p:sp>
      <p:sp>
        <p:nvSpPr>
          <p:cNvPr name="Freeform 6" id="6"/>
          <p:cNvSpPr/>
          <p:nvPr/>
        </p:nvSpPr>
        <p:spPr>
          <a:xfrm flipH="false" flipV="false" rot="0">
            <a:off x="7774814" y="8534755"/>
            <a:ext cx="723545" cy="723545"/>
          </a:xfrm>
          <a:custGeom>
            <a:avLst/>
            <a:gdLst/>
            <a:ahLst/>
            <a:cxnLst/>
            <a:rect r="r" b="b" t="t" l="l"/>
            <a:pathLst>
              <a:path h="723545" w="723545">
                <a:moveTo>
                  <a:pt x="0" y="0"/>
                </a:moveTo>
                <a:lnTo>
                  <a:pt x="723545" y="0"/>
                </a:lnTo>
                <a:lnTo>
                  <a:pt x="723545" y="723545"/>
                </a:lnTo>
                <a:lnTo>
                  <a:pt x="0" y="723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873777" y="4797318"/>
            <a:ext cx="457641" cy="458474"/>
          </a:xfrm>
          <a:custGeom>
            <a:avLst/>
            <a:gdLst/>
            <a:ahLst/>
            <a:cxnLst/>
            <a:rect r="r" b="b" t="t" l="l"/>
            <a:pathLst>
              <a:path h="458474" w="457641">
                <a:moveTo>
                  <a:pt x="0" y="0"/>
                </a:moveTo>
                <a:lnTo>
                  <a:pt x="457641" y="0"/>
                </a:lnTo>
                <a:lnTo>
                  <a:pt x="457641" y="458474"/>
                </a:lnTo>
                <a:lnTo>
                  <a:pt x="0" y="458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9549476" y="2205993"/>
            <a:ext cx="7709824" cy="7052307"/>
            <a:chOff x="0" y="0"/>
            <a:chExt cx="292494" cy="267549"/>
          </a:xfrm>
        </p:grpSpPr>
        <p:sp>
          <p:nvSpPr>
            <p:cNvPr name="Freeform 9" id="9"/>
            <p:cNvSpPr/>
            <p:nvPr/>
          </p:nvSpPr>
          <p:spPr>
            <a:xfrm flipH="false" flipV="false" rot="0">
              <a:off x="0" y="0"/>
              <a:ext cx="292494" cy="267549"/>
            </a:xfrm>
            <a:custGeom>
              <a:avLst/>
              <a:gdLst/>
              <a:ahLst/>
              <a:cxnLst/>
              <a:rect r="r" b="b" t="t" l="l"/>
              <a:pathLst>
                <a:path h="267549" w="292494">
                  <a:moveTo>
                    <a:pt x="10042" y="0"/>
                  </a:moveTo>
                  <a:lnTo>
                    <a:pt x="282452" y="0"/>
                  </a:lnTo>
                  <a:cubicBezTo>
                    <a:pt x="285115" y="0"/>
                    <a:pt x="287669" y="1058"/>
                    <a:pt x="289552" y="2941"/>
                  </a:cubicBezTo>
                  <a:cubicBezTo>
                    <a:pt x="291436" y="4824"/>
                    <a:pt x="292494" y="7378"/>
                    <a:pt x="292494" y="10042"/>
                  </a:cubicBezTo>
                  <a:lnTo>
                    <a:pt x="292494" y="257507"/>
                  </a:lnTo>
                  <a:cubicBezTo>
                    <a:pt x="292494" y="260170"/>
                    <a:pt x="291436" y="262724"/>
                    <a:pt x="289552" y="264608"/>
                  </a:cubicBezTo>
                  <a:cubicBezTo>
                    <a:pt x="287669" y="266491"/>
                    <a:pt x="285115" y="267549"/>
                    <a:pt x="282452" y="267549"/>
                  </a:cubicBezTo>
                  <a:lnTo>
                    <a:pt x="10042" y="267549"/>
                  </a:lnTo>
                  <a:cubicBezTo>
                    <a:pt x="4496" y="267549"/>
                    <a:pt x="0" y="263053"/>
                    <a:pt x="0" y="257507"/>
                  </a:cubicBezTo>
                  <a:lnTo>
                    <a:pt x="0" y="10042"/>
                  </a:lnTo>
                  <a:cubicBezTo>
                    <a:pt x="0" y="4496"/>
                    <a:pt x="4496" y="0"/>
                    <a:pt x="10042" y="0"/>
                  </a:cubicBezTo>
                  <a:close/>
                </a:path>
              </a:pathLst>
            </a:custGeom>
            <a:blipFill>
              <a:blip r:embed="rId6"/>
              <a:stretch>
                <a:fillRect l="-9379" t="0" r="-53236" b="0"/>
              </a:stretch>
            </a:blipFill>
          </p:spPr>
        </p:sp>
      </p:grpSp>
      <p:grpSp>
        <p:nvGrpSpPr>
          <p:cNvPr name="Group 10" id="10"/>
          <p:cNvGrpSpPr/>
          <p:nvPr/>
        </p:nvGrpSpPr>
        <p:grpSpPr>
          <a:xfrm rot="0">
            <a:off x="10429457" y="2929538"/>
            <a:ext cx="5949862" cy="846099"/>
            <a:chOff x="0" y="0"/>
            <a:chExt cx="1567042" cy="222841"/>
          </a:xfrm>
        </p:grpSpPr>
        <p:sp>
          <p:nvSpPr>
            <p:cNvPr name="Freeform 11" id="11"/>
            <p:cNvSpPr/>
            <p:nvPr/>
          </p:nvSpPr>
          <p:spPr>
            <a:xfrm flipH="false" flipV="false" rot="0">
              <a:off x="0" y="0"/>
              <a:ext cx="1567042" cy="222841"/>
            </a:xfrm>
            <a:custGeom>
              <a:avLst/>
              <a:gdLst/>
              <a:ahLst/>
              <a:cxnLst/>
              <a:rect r="r" b="b" t="t" l="l"/>
              <a:pathLst>
                <a:path h="222841" w="1567042">
                  <a:moveTo>
                    <a:pt x="13012" y="0"/>
                  </a:moveTo>
                  <a:lnTo>
                    <a:pt x="1554030" y="0"/>
                  </a:lnTo>
                  <a:cubicBezTo>
                    <a:pt x="1561216" y="0"/>
                    <a:pt x="1567042" y="5826"/>
                    <a:pt x="1567042" y="13012"/>
                  </a:cubicBezTo>
                  <a:lnTo>
                    <a:pt x="1567042" y="209829"/>
                  </a:lnTo>
                  <a:cubicBezTo>
                    <a:pt x="1567042" y="217015"/>
                    <a:pt x="1561216" y="222841"/>
                    <a:pt x="1554030" y="222841"/>
                  </a:cubicBezTo>
                  <a:lnTo>
                    <a:pt x="13012" y="222841"/>
                  </a:lnTo>
                  <a:cubicBezTo>
                    <a:pt x="5826" y="222841"/>
                    <a:pt x="0" y="217015"/>
                    <a:pt x="0" y="209829"/>
                  </a:cubicBezTo>
                  <a:lnTo>
                    <a:pt x="0" y="13012"/>
                  </a:lnTo>
                  <a:cubicBezTo>
                    <a:pt x="0" y="5826"/>
                    <a:pt x="5826" y="0"/>
                    <a:pt x="13012" y="0"/>
                  </a:cubicBezTo>
                  <a:close/>
                </a:path>
              </a:pathLst>
            </a:custGeom>
            <a:solidFill>
              <a:srgbClr val="2D661F"/>
            </a:solidFill>
          </p:spPr>
        </p:sp>
        <p:sp>
          <p:nvSpPr>
            <p:cNvPr name="TextBox 12" id="12"/>
            <p:cNvSpPr txBox="true"/>
            <p:nvPr/>
          </p:nvSpPr>
          <p:spPr>
            <a:xfrm>
              <a:off x="0" y="28575"/>
              <a:ext cx="1567042" cy="194266"/>
            </a:xfrm>
            <a:prstGeom prst="rect">
              <a:avLst/>
            </a:prstGeom>
          </p:spPr>
          <p:txBody>
            <a:bodyPr anchor="ctr" rtlCol="false" tIns="50800" lIns="50800" bIns="50800" rIns="50800"/>
            <a:lstStyle/>
            <a:p>
              <a:pPr algn="ctr">
                <a:lnSpc>
                  <a:spcPts val="1134"/>
                </a:lnSpc>
              </a:pPr>
            </a:p>
          </p:txBody>
        </p:sp>
      </p:grpSp>
      <p:grpSp>
        <p:nvGrpSpPr>
          <p:cNvPr name="Group 13" id="13"/>
          <p:cNvGrpSpPr/>
          <p:nvPr/>
        </p:nvGrpSpPr>
        <p:grpSpPr>
          <a:xfrm rot="0">
            <a:off x="10429457" y="4103449"/>
            <a:ext cx="5949862" cy="846099"/>
            <a:chOff x="0" y="0"/>
            <a:chExt cx="1567042" cy="222841"/>
          </a:xfrm>
        </p:grpSpPr>
        <p:sp>
          <p:nvSpPr>
            <p:cNvPr name="Freeform 14" id="14"/>
            <p:cNvSpPr/>
            <p:nvPr/>
          </p:nvSpPr>
          <p:spPr>
            <a:xfrm flipH="false" flipV="false" rot="0">
              <a:off x="0" y="0"/>
              <a:ext cx="1567042" cy="222841"/>
            </a:xfrm>
            <a:custGeom>
              <a:avLst/>
              <a:gdLst/>
              <a:ahLst/>
              <a:cxnLst/>
              <a:rect r="r" b="b" t="t" l="l"/>
              <a:pathLst>
                <a:path h="222841" w="1567042">
                  <a:moveTo>
                    <a:pt x="13012" y="0"/>
                  </a:moveTo>
                  <a:lnTo>
                    <a:pt x="1554030" y="0"/>
                  </a:lnTo>
                  <a:cubicBezTo>
                    <a:pt x="1561216" y="0"/>
                    <a:pt x="1567042" y="5826"/>
                    <a:pt x="1567042" y="13012"/>
                  </a:cubicBezTo>
                  <a:lnTo>
                    <a:pt x="1567042" y="209829"/>
                  </a:lnTo>
                  <a:cubicBezTo>
                    <a:pt x="1567042" y="217015"/>
                    <a:pt x="1561216" y="222841"/>
                    <a:pt x="1554030" y="222841"/>
                  </a:cubicBezTo>
                  <a:lnTo>
                    <a:pt x="13012" y="222841"/>
                  </a:lnTo>
                  <a:cubicBezTo>
                    <a:pt x="5826" y="222841"/>
                    <a:pt x="0" y="217015"/>
                    <a:pt x="0" y="209829"/>
                  </a:cubicBezTo>
                  <a:lnTo>
                    <a:pt x="0" y="13012"/>
                  </a:lnTo>
                  <a:cubicBezTo>
                    <a:pt x="0" y="5826"/>
                    <a:pt x="5826" y="0"/>
                    <a:pt x="13012" y="0"/>
                  </a:cubicBezTo>
                  <a:close/>
                </a:path>
              </a:pathLst>
            </a:custGeom>
            <a:solidFill>
              <a:srgbClr val="2D661F"/>
            </a:solidFill>
          </p:spPr>
        </p:sp>
        <p:sp>
          <p:nvSpPr>
            <p:cNvPr name="TextBox 15" id="15"/>
            <p:cNvSpPr txBox="true"/>
            <p:nvPr/>
          </p:nvSpPr>
          <p:spPr>
            <a:xfrm>
              <a:off x="0" y="28575"/>
              <a:ext cx="1567042" cy="194266"/>
            </a:xfrm>
            <a:prstGeom prst="rect">
              <a:avLst/>
            </a:prstGeom>
          </p:spPr>
          <p:txBody>
            <a:bodyPr anchor="ctr" rtlCol="false" tIns="50800" lIns="50800" bIns="50800" rIns="50800"/>
            <a:lstStyle/>
            <a:p>
              <a:pPr algn="ctr">
                <a:lnSpc>
                  <a:spcPts val="1134"/>
                </a:lnSpc>
              </a:pPr>
            </a:p>
          </p:txBody>
        </p:sp>
      </p:grpSp>
      <p:grpSp>
        <p:nvGrpSpPr>
          <p:cNvPr name="Group 16" id="16"/>
          <p:cNvGrpSpPr/>
          <p:nvPr/>
        </p:nvGrpSpPr>
        <p:grpSpPr>
          <a:xfrm rot="0">
            <a:off x="10429457" y="5185216"/>
            <a:ext cx="5949862" cy="1269543"/>
            <a:chOff x="0" y="0"/>
            <a:chExt cx="1567042" cy="334365"/>
          </a:xfrm>
        </p:grpSpPr>
        <p:sp>
          <p:nvSpPr>
            <p:cNvPr name="Freeform 17" id="17"/>
            <p:cNvSpPr/>
            <p:nvPr/>
          </p:nvSpPr>
          <p:spPr>
            <a:xfrm flipH="false" flipV="false" rot="0">
              <a:off x="0" y="0"/>
              <a:ext cx="1567042" cy="334365"/>
            </a:xfrm>
            <a:custGeom>
              <a:avLst/>
              <a:gdLst/>
              <a:ahLst/>
              <a:cxnLst/>
              <a:rect r="r" b="b" t="t" l="l"/>
              <a:pathLst>
                <a:path h="334365" w="1567042">
                  <a:moveTo>
                    <a:pt x="13012" y="0"/>
                  </a:moveTo>
                  <a:lnTo>
                    <a:pt x="1554030" y="0"/>
                  </a:lnTo>
                  <a:cubicBezTo>
                    <a:pt x="1561216" y="0"/>
                    <a:pt x="1567042" y="5826"/>
                    <a:pt x="1567042" y="13012"/>
                  </a:cubicBezTo>
                  <a:lnTo>
                    <a:pt x="1567042" y="321353"/>
                  </a:lnTo>
                  <a:cubicBezTo>
                    <a:pt x="1567042" y="328540"/>
                    <a:pt x="1561216" y="334365"/>
                    <a:pt x="1554030" y="334365"/>
                  </a:cubicBezTo>
                  <a:lnTo>
                    <a:pt x="13012" y="334365"/>
                  </a:lnTo>
                  <a:cubicBezTo>
                    <a:pt x="5826" y="334365"/>
                    <a:pt x="0" y="328540"/>
                    <a:pt x="0" y="321353"/>
                  </a:cubicBezTo>
                  <a:lnTo>
                    <a:pt x="0" y="13012"/>
                  </a:lnTo>
                  <a:cubicBezTo>
                    <a:pt x="0" y="5826"/>
                    <a:pt x="5826" y="0"/>
                    <a:pt x="13012" y="0"/>
                  </a:cubicBezTo>
                  <a:close/>
                </a:path>
              </a:pathLst>
            </a:custGeom>
            <a:solidFill>
              <a:srgbClr val="2D661F"/>
            </a:solidFill>
          </p:spPr>
        </p:sp>
        <p:sp>
          <p:nvSpPr>
            <p:cNvPr name="TextBox 18" id="18"/>
            <p:cNvSpPr txBox="true"/>
            <p:nvPr/>
          </p:nvSpPr>
          <p:spPr>
            <a:xfrm>
              <a:off x="0" y="28575"/>
              <a:ext cx="1567042" cy="305790"/>
            </a:xfrm>
            <a:prstGeom prst="rect">
              <a:avLst/>
            </a:prstGeom>
          </p:spPr>
          <p:txBody>
            <a:bodyPr anchor="ctr" rtlCol="false" tIns="50800" lIns="50800" bIns="50800" rIns="50800"/>
            <a:lstStyle/>
            <a:p>
              <a:pPr algn="ctr">
                <a:lnSpc>
                  <a:spcPts val="1134"/>
                </a:lnSpc>
              </a:pPr>
            </a:p>
          </p:txBody>
        </p:sp>
      </p:grpSp>
      <p:grpSp>
        <p:nvGrpSpPr>
          <p:cNvPr name="Group 19" id="19"/>
          <p:cNvGrpSpPr/>
          <p:nvPr/>
        </p:nvGrpSpPr>
        <p:grpSpPr>
          <a:xfrm rot="0">
            <a:off x="10429457" y="6778609"/>
            <a:ext cx="5949862" cy="817399"/>
            <a:chOff x="0" y="0"/>
            <a:chExt cx="1567042" cy="215282"/>
          </a:xfrm>
        </p:grpSpPr>
        <p:sp>
          <p:nvSpPr>
            <p:cNvPr name="Freeform 20" id="20"/>
            <p:cNvSpPr/>
            <p:nvPr/>
          </p:nvSpPr>
          <p:spPr>
            <a:xfrm flipH="false" flipV="false" rot="0">
              <a:off x="0" y="0"/>
              <a:ext cx="1567042" cy="215282"/>
            </a:xfrm>
            <a:custGeom>
              <a:avLst/>
              <a:gdLst/>
              <a:ahLst/>
              <a:cxnLst/>
              <a:rect r="r" b="b" t="t" l="l"/>
              <a:pathLst>
                <a:path h="215282" w="1567042">
                  <a:moveTo>
                    <a:pt x="13012" y="0"/>
                  </a:moveTo>
                  <a:lnTo>
                    <a:pt x="1554030" y="0"/>
                  </a:lnTo>
                  <a:cubicBezTo>
                    <a:pt x="1561216" y="0"/>
                    <a:pt x="1567042" y="5826"/>
                    <a:pt x="1567042" y="13012"/>
                  </a:cubicBezTo>
                  <a:lnTo>
                    <a:pt x="1567042" y="202270"/>
                  </a:lnTo>
                  <a:cubicBezTo>
                    <a:pt x="1567042" y="209456"/>
                    <a:pt x="1561216" y="215282"/>
                    <a:pt x="1554030" y="215282"/>
                  </a:cubicBezTo>
                  <a:lnTo>
                    <a:pt x="13012" y="215282"/>
                  </a:lnTo>
                  <a:cubicBezTo>
                    <a:pt x="5826" y="215282"/>
                    <a:pt x="0" y="209456"/>
                    <a:pt x="0" y="202270"/>
                  </a:cubicBezTo>
                  <a:lnTo>
                    <a:pt x="0" y="13012"/>
                  </a:lnTo>
                  <a:cubicBezTo>
                    <a:pt x="0" y="5826"/>
                    <a:pt x="5826" y="0"/>
                    <a:pt x="13012" y="0"/>
                  </a:cubicBezTo>
                  <a:close/>
                </a:path>
              </a:pathLst>
            </a:custGeom>
            <a:solidFill>
              <a:srgbClr val="2D661F"/>
            </a:solidFill>
          </p:spPr>
        </p:sp>
        <p:sp>
          <p:nvSpPr>
            <p:cNvPr name="TextBox 21" id="21"/>
            <p:cNvSpPr txBox="true"/>
            <p:nvPr/>
          </p:nvSpPr>
          <p:spPr>
            <a:xfrm>
              <a:off x="0" y="28575"/>
              <a:ext cx="1567042" cy="186707"/>
            </a:xfrm>
            <a:prstGeom prst="rect">
              <a:avLst/>
            </a:prstGeom>
          </p:spPr>
          <p:txBody>
            <a:bodyPr anchor="ctr" rtlCol="false" tIns="50800" lIns="50800" bIns="50800" rIns="50800"/>
            <a:lstStyle/>
            <a:p>
              <a:pPr algn="ctr">
                <a:lnSpc>
                  <a:spcPts val="1134"/>
                </a:lnSpc>
              </a:pPr>
            </a:p>
          </p:txBody>
        </p:sp>
      </p:grpSp>
      <p:grpSp>
        <p:nvGrpSpPr>
          <p:cNvPr name="Group 22" id="22"/>
          <p:cNvGrpSpPr/>
          <p:nvPr/>
        </p:nvGrpSpPr>
        <p:grpSpPr>
          <a:xfrm rot="0">
            <a:off x="10429457" y="7919857"/>
            <a:ext cx="5949862" cy="817399"/>
            <a:chOff x="0" y="0"/>
            <a:chExt cx="1567042" cy="215282"/>
          </a:xfrm>
        </p:grpSpPr>
        <p:sp>
          <p:nvSpPr>
            <p:cNvPr name="Freeform 23" id="23"/>
            <p:cNvSpPr/>
            <p:nvPr/>
          </p:nvSpPr>
          <p:spPr>
            <a:xfrm flipH="false" flipV="false" rot="0">
              <a:off x="0" y="0"/>
              <a:ext cx="1567042" cy="215282"/>
            </a:xfrm>
            <a:custGeom>
              <a:avLst/>
              <a:gdLst/>
              <a:ahLst/>
              <a:cxnLst/>
              <a:rect r="r" b="b" t="t" l="l"/>
              <a:pathLst>
                <a:path h="215282" w="1567042">
                  <a:moveTo>
                    <a:pt x="13012" y="0"/>
                  </a:moveTo>
                  <a:lnTo>
                    <a:pt x="1554030" y="0"/>
                  </a:lnTo>
                  <a:cubicBezTo>
                    <a:pt x="1561216" y="0"/>
                    <a:pt x="1567042" y="5826"/>
                    <a:pt x="1567042" y="13012"/>
                  </a:cubicBezTo>
                  <a:lnTo>
                    <a:pt x="1567042" y="202270"/>
                  </a:lnTo>
                  <a:cubicBezTo>
                    <a:pt x="1567042" y="209456"/>
                    <a:pt x="1561216" y="215282"/>
                    <a:pt x="1554030" y="215282"/>
                  </a:cubicBezTo>
                  <a:lnTo>
                    <a:pt x="13012" y="215282"/>
                  </a:lnTo>
                  <a:cubicBezTo>
                    <a:pt x="5826" y="215282"/>
                    <a:pt x="0" y="209456"/>
                    <a:pt x="0" y="202270"/>
                  </a:cubicBezTo>
                  <a:lnTo>
                    <a:pt x="0" y="13012"/>
                  </a:lnTo>
                  <a:cubicBezTo>
                    <a:pt x="0" y="5826"/>
                    <a:pt x="5826" y="0"/>
                    <a:pt x="13012" y="0"/>
                  </a:cubicBezTo>
                  <a:close/>
                </a:path>
              </a:pathLst>
            </a:custGeom>
            <a:solidFill>
              <a:srgbClr val="2D661F"/>
            </a:solidFill>
          </p:spPr>
        </p:sp>
        <p:sp>
          <p:nvSpPr>
            <p:cNvPr name="TextBox 24" id="24"/>
            <p:cNvSpPr txBox="true"/>
            <p:nvPr/>
          </p:nvSpPr>
          <p:spPr>
            <a:xfrm>
              <a:off x="0" y="28575"/>
              <a:ext cx="1567042" cy="186707"/>
            </a:xfrm>
            <a:prstGeom prst="rect">
              <a:avLst/>
            </a:prstGeom>
          </p:spPr>
          <p:txBody>
            <a:bodyPr anchor="ctr" rtlCol="false" tIns="50800" lIns="50800" bIns="50800" rIns="50800"/>
            <a:lstStyle/>
            <a:p>
              <a:pPr algn="ctr">
                <a:lnSpc>
                  <a:spcPts val="1134"/>
                </a:lnSpc>
              </a:pPr>
            </a:p>
          </p:txBody>
        </p:sp>
      </p:grpSp>
      <p:sp>
        <p:nvSpPr>
          <p:cNvPr name="TextBox 25" id="25"/>
          <p:cNvSpPr txBox="true"/>
          <p:nvPr/>
        </p:nvSpPr>
        <p:spPr>
          <a:xfrm rot="0">
            <a:off x="1480608" y="2958113"/>
            <a:ext cx="2574403" cy="747394"/>
          </a:xfrm>
          <a:prstGeom prst="rect">
            <a:avLst/>
          </a:prstGeom>
        </p:spPr>
        <p:txBody>
          <a:bodyPr anchor="t" rtlCol="false" tIns="0" lIns="0" bIns="0" rIns="0">
            <a:spAutoFit/>
          </a:bodyPr>
          <a:lstStyle/>
          <a:p>
            <a:pPr algn="l">
              <a:lnSpc>
                <a:spcPts val="2799"/>
              </a:lnSpc>
            </a:pPr>
            <a:r>
              <a:rPr lang="en-US" sz="2799" spc="-55">
                <a:solidFill>
                  <a:srgbClr val="969385"/>
                </a:solidFill>
                <a:latin typeface="Poppins"/>
                <a:ea typeface="Poppins"/>
                <a:cs typeface="Poppins"/>
                <a:sym typeface="Poppins"/>
              </a:rPr>
              <a:t>Robot Working Algorithm</a:t>
            </a:r>
          </a:p>
        </p:txBody>
      </p:sp>
      <p:sp>
        <p:nvSpPr>
          <p:cNvPr name="TextBox 26" id="26"/>
          <p:cNvSpPr txBox="true"/>
          <p:nvPr/>
        </p:nvSpPr>
        <p:spPr>
          <a:xfrm rot="0">
            <a:off x="4390149" y="2693879"/>
            <a:ext cx="3746438" cy="2800091"/>
          </a:xfrm>
          <a:prstGeom prst="rect">
            <a:avLst/>
          </a:prstGeom>
        </p:spPr>
        <p:txBody>
          <a:bodyPr anchor="t" rtlCol="false" tIns="0" lIns="0" bIns="0" rIns="0">
            <a:spAutoFit/>
          </a:bodyPr>
          <a:lstStyle/>
          <a:p>
            <a:pPr algn="l">
              <a:lnSpc>
                <a:spcPts val="2477"/>
              </a:lnSpc>
            </a:pPr>
            <a:r>
              <a:rPr lang="en-US" sz="2064" spc="-41">
                <a:solidFill>
                  <a:srgbClr val="969385"/>
                </a:solidFill>
                <a:latin typeface="Poppins"/>
                <a:ea typeface="Poppins"/>
                <a:cs typeface="Poppins"/>
                <a:sym typeface="Poppins"/>
              </a:rPr>
              <a:t>Th</a:t>
            </a:r>
            <a:r>
              <a:rPr lang="en-US" sz="2064" spc="-41">
                <a:solidFill>
                  <a:srgbClr val="969385"/>
                </a:solidFill>
                <a:latin typeface="Poppins"/>
                <a:ea typeface="Poppins"/>
                <a:cs typeface="Poppins"/>
                <a:sym typeface="Poppins"/>
              </a:rPr>
              <a:t>e robot software continuously reads sensor values and analyzes line position in real time. Based on the detected position, the program adjusts motor speed and direction to keep the robot aligned with the track during movement.</a:t>
            </a:r>
          </a:p>
        </p:txBody>
      </p:sp>
      <p:sp>
        <p:nvSpPr>
          <p:cNvPr name="TextBox 27" id="27"/>
          <p:cNvSpPr txBox="true"/>
          <p:nvPr/>
        </p:nvSpPr>
        <p:spPr>
          <a:xfrm rot="0">
            <a:off x="10971511" y="3169390"/>
            <a:ext cx="4803440" cy="394969"/>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Read sens</a:t>
            </a:r>
            <a:r>
              <a:rPr lang="en-US" sz="2799" spc="-55">
                <a:solidFill>
                  <a:srgbClr val="969385"/>
                </a:solidFill>
                <a:latin typeface="Poppins"/>
                <a:ea typeface="Poppins"/>
                <a:cs typeface="Poppins"/>
                <a:sym typeface="Poppins"/>
              </a:rPr>
              <a:t>or values</a:t>
            </a:r>
          </a:p>
        </p:txBody>
      </p:sp>
      <p:sp>
        <p:nvSpPr>
          <p:cNvPr name="TextBox 28" id="28"/>
          <p:cNvSpPr txBox="true"/>
          <p:nvPr/>
        </p:nvSpPr>
        <p:spPr>
          <a:xfrm rot="0">
            <a:off x="10971511" y="4402348"/>
            <a:ext cx="4803440" cy="394969"/>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De</a:t>
            </a:r>
            <a:r>
              <a:rPr lang="en-US" sz="2799" spc="-55">
                <a:solidFill>
                  <a:srgbClr val="969385"/>
                </a:solidFill>
                <a:latin typeface="Poppins"/>
                <a:ea typeface="Poppins"/>
                <a:cs typeface="Poppins"/>
                <a:sym typeface="Poppins"/>
              </a:rPr>
              <a:t>tect line position</a:t>
            </a:r>
          </a:p>
        </p:txBody>
      </p:sp>
      <p:sp>
        <p:nvSpPr>
          <p:cNvPr name="TextBox 29" id="29"/>
          <p:cNvSpPr txBox="true"/>
          <p:nvPr/>
        </p:nvSpPr>
        <p:spPr>
          <a:xfrm rot="0">
            <a:off x="10971511" y="5521048"/>
            <a:ext cx="4803440" cy="747394"/>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Compar</a:t>
            </a:r>
            <a:r>
              <a:rPr lang="en-US" sz="2799" spc="-55">
                <a:solidFill>
                  <a:srgbClr val="969385"/>
                </a:solidFill>
                <a:latin typeface="Poppins"/>
                <a:ea typeface="Poppins"/>
                <a:cs typeface="Poppins"/>
                <a:sym typeface="Poppins"/>
              </a:rPr>
              <a:t>e left and right sensors</a:t>
            </a:r>
          </a:p>
        </p:txBody>
      </p:sp>
      <p:sp>
        <p:nvSpPr>
          <p:cNvPr name="TextBox 30" id="30"/>
          <p:cNvSpPr txBox="true"/>
          <p:nvPr/>
        </p:nvSpPr>
        <p:spPr>
          <a:xfrm rot="0">
            <a:off x="11002668" y="7018411"/>
            <a:ext cx="4803440" cy="394969"/>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A</a:t>
            </a:r>
            <a:r>
              <a:rPr lang="en-US" sz="2799" spc="-55">
                <a:solidFill>
                  <a:srgbClr val="969385"/>
                </a:solidFill>
                <a:latin typeface="Poppins"/>
                <a:ea typeface="Poppins"/>
                <a:cs typeface="Poppins"/>
                <a:sym typeface="Poppins"/>
              </a:rPr>
              <a:t>djust motor speed</a:t>
            </a:r>
          </a:p>
        </p:txBody>
      </p:sp>
      <p:sp>
        <p:nvSpPr>
          <p:cNvPr name="TextBox 31" id="31"/>
          <p:cNvSpPr txBox="true"/>
          <p:nvPr/>
        </p:nvSpPr>
        <p:spPr>
          <a:xfrm rot="0">
            <a:off x="10820875" y="8138932"/>
            <a:ext cx="4803440" cy="394969"/>
          </a:xfrm>
          <a:prstGeom prst="rect">
            <a:avLst/>
          </a:prstGeom>
        </p:spPr>
        <p:txBody>
          <a:bodyPr anchor="t" rtlCol="false" tIns="0" lIns="0" bIns="0" rIns="0">
            <a:spAutoFit/>
          </a:bodyPr>
          <a:lstStyle/>
          <a:p>
            <a:pPr algn="ctr">
              <a:lnSpc>
                <a:spcPts val="2799"/>
              </a:lnSpc>
            </a:pPr>
            <a:r>
              <a:rPr lang="en-US" sz="2799" spc="-55">
                <a:solidFill>
                  <a:srgbClr val="969385"/>
                </a:solidFill>
                <a:latin typeface="Poppins"/>
                <a:ea typeface="Poppins"/>
                <a:cs typeface="Poppins"/>
                <a:sym typeface="Poppins"/>
              </a:rPr>
              <a:t>Con</a:t>
            </a:r>
            <a:r>
              <a:rPr lang="en-US" sz="2799" spc="-55">
                <a:solidFill>
                  <a:srgbClr val="969385"/>
                </a:solidFill>
                <a:latin typeface="Poppins"/>
                <a:ea typeface="Poppins"/>
                <a:cs typeface="Poppins"/>
                <a:sym typeface="Poppins"/>
              </a:rPr>
              <a:t>tinue movement</a:t>
            </a:r>
          </a:p>
        </p:txBody>
      </p:sp>
      <p:sp>
        <p:nvSpPr>
          <p:cNvPr name="Freeform 32" id="32"/>
          <p:cNvSpPr/>
          <p:nvPr/>
        </p:nvSpPr>
        <p:spPr>
          <a:xfrm flipH="false" flipV="false" rot="0">
            <a:off x="1161171" y="858663"/>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3" id="33"/>
          <p:cNvSpPr txBox="true"/>
          <p:nvPr/>
        </p:nvSpPr>
        <p:spPr>
          <a:xfrm rot="0">
            <a:off x="2401199" y="1075915"/>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sp>
        <p:nvSpPr>
          <p:cNvPr name="Freeform 2" id="2"/>
          <p:cNvSpPr/>
          <p:nvPr/>
        </p:nvSpPr>
        <p:spPr>
          <a:xfrm flipH="false" flipV="false" rot="0">
            <a:off x="15596101" y="3655911"/>
            <a:ext cx="1833079" cy="1833079"/>
          </a:xfrm>
          <a:custGeom>
            <a:avLst/>
            <a:gdLst/>
            <a:ahLst/>
            <a:cxnLst/>
            <a:rect r="r" b="b" t="t" l="l"/>
            <a:pathLst>
              <a:path h="1833079" w="1833079">
                <a:moveTo>
                  <a:pt x="0" y="0"/>
                </a:moveTo>
                <a:lnTo>
                  <a:pt x="1833079" y="0"/>
                </a:lnTo>
                <a:lnTo>
                  <a:pt x="1833079" y="1833079"/>
                </a:lnTo>
                <a:lnTo>
                  <a:pt x="0" y="1833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7480772"/>
            <a:ext cx="6837238" cy="1777528"/>
            <a:chOff x="0" y="0"/>
            <a:chExt cx="1800754" cy="468156"/>
          </a:xfrm>
        </p:grpSpPr>
        <p:sp>
          <p:nvSpPr>
            <p:cNvPr name="Freeform 4" id="4"/>
            <p:cNvSpPr/>
            <p:nvPr/>
          </p:nvSpPr>
          <p:spPr>
            <a:xfrm flipH="false" flipV="false" rot="0">
              <a:off x="0" y="0"/>
              <a:ext cx="1800754" cy="468156"/>
            </a:xfrm>
            <a:custGeom>
              <a:avLst/>
              <a:gdLst/>
              <a:ahLst/>
              <a:cxnLst/>
              <a:rect r="r" b="b" t="t" l="l"/>
              <a:pathLst>
                <a:path h="468156" w="1800754">
                  <a:moveTo>
                    <a:pt x="11323" y="0"/>
                  </a:moveTo>
                  <a:lnTo>
                    <a:pt x="1789431" y="0"/>
                  </a:lnTo>
                  <a:cubicBezTo>
                    <a:pt x="1795685" y="0"/>
                    <a:pt x="1800754" y="5070"/>
                    <a:pt x="1800754" y="11323"/>
                  </a:cubicBezTo>
                  <a:lnTo>
                    <a:pt x="1800754" y="456832"/>
                  </a:lnTo>
                  <a:cubicBezTo>
                    <a:pt x="1800754" y="459836"/>
                    <a:pt x="1799561" y="462716"/>
                    <a:pt x="1797438" y="464839"/>
                  </a:cubicBezTo>
                  <a:cubicBezTo>
                    <a:pt x="1795314" y="466963"/>
                    <a:pt x="1792434" y="468156"/>
                    <a:pt x="1789431" y="468156"/>
                  </a:cubicBezTo>
                  <a:lnTo>
                    <a:pt x="11323" y="468156"/>
                  </a:lnTo>
                  <a:cubicBezTo>
                    <a:pt x="8320" y="468156"/>
                    <a:pt x="5440" y="466963"/>
                    <a:pt x="3316" y="464839"/>
                  </a:cubicBezTo>
                  <a:cubicBezTo>
                    <a:pt x="1193" y="462716"/>
                    <a:pt x="0" y="459836"/>
                    <a:pt x="0" y="456832"/>
                  </a:cubicBezTo>
                  <a:lnTo>
                    <a:pt x="0" y="11323"/>
                  </a:lnTo>
                  <a:cubicBezTo>
                    <a:pt x="0" y="5070"/>
                    <a:pt x="5070" y="0"/>
                    <a:pt x="11323" y="0"/>
                  </a:cubicBezTo>
                  <a:close/>
                </a:path>
              </a:pathLst>
            </a:custGeom>
            <a:solidFill>
              <a:srgbClr val="2D661F"/>
            </a:solidFill>
          </p:spPr>
        </p:sp>
        <p:sp>
          <p:nvSpPr>
            <p:cNvPr name="TextBox 5" id="5"/>
            <p:cNvSpPr txBox="true"/>
            <p:nvPr/>
          </p:nvSpPr>
          <p:spPr>
            <a:xfrm>
              <a:off x="0" y="28575"/>
              <a:ext cx="1800754" cy="439581"/>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28700" y="894383"/>
            <a:ext cx="6837238" cy="6087178"/>
            <a:chOff x="0" y="0"/>
            <a:chExt cx="1800754" cy="1603207"/>
          </a:xfrm>
        </p:grpSpPr>
        <p:sp>
          <p:nvSpPr>
            <p:cNvPr name="Freeform 7" id="7"/>
            <p:cNvSpPr/>
            <p:nvPr/>
          </p:nvSpPr>
          <p:spPr>
            <a:xfrm flipH="false" flipV="false" rot="0">
              <a:off x="0" y="0"/>
              <a:ext cx="1800754" cy="1603207"/>
            </a:xfrm>
            <a:custGeom>
              <a:avLst/>
              <a:gdLst/>
              <a:ahLst/>
              <a:cxnLst/>
              <a:rect r="r" b="b" t="t" l="l"/>
              <a:pathLst>
                <a:path h="1603207" w="1800754">
                  <a:moveTo>
                    <a:pt x="11323" y="0"/>
                  </a:moveTo>
                  <a:lnTo>
                    <a:pt x="1789431" y="0"/>
                  </a:lnTo>
                  <a:cubicBezTo>
                    <a:pt x="1795685" y="0"/>
                    <a:pt x="1800754" y="5070"/>
                    <a:pt x="1800754" y="11323"/>
                  </a:cubicBezTo>
                  <a:lnTo>
                    <a:pt x="1800754" y="1591884"/>
                  </a:lnTo>
                  <a:cubicBezTo>
                    <a:pt x="1800754" y="1594887"/>
                    <a:pt x="1799561" y="1597767"/>
                    <a:pt x="1797438" y="1599891"/>
                  </a:cubicBezTo>
                  <a:cubicBezTo>
                    <a:pt x="1795314" y="1602015"/>
                    <a:pt x="1792434" y="1603207"/>
                    <a:pt x="1789431" y="1603207"/>
                  </a:cubicBezTo>
                  <a:lnTo>
                    <a:pt x="11323" y="1603207"/>
                  </a:lnTo>
                  <a:cubicBezTo>
                    <a:pt x="5070" y="1603207"/>
                    <a:pt x="0" y="1598138"/>
                    <a:pt x="0" y="1591884"/>
                  </a:cubicBezTo>
                  <a:lnTo>
                    <a:pt x="0" y="11323"/>
                  </a:lnTo>
                  <a:cubicBezTo>
                    <a:pt x="0" y="5070"/>
                    <a:pt x="5070" y="0"/>
                    <a:pt x="11323" y="0"/>
                  </a:cubicBezTo>
                  <a:close/>
                </a:path>
              </a:pathLst>
            </a:custGeom>
            <a:solidFill>
              <a:srgbClr val="9E3327"/>
            </a:solidFill>
          </p:spPr>
        </p:sp>
        <p:sp>
          <p:nvSpPr>
            <p:cNvPr name="TextBox 8" id="8"/>
            <p:cNvSpPr txBox="true"/>
            <p:nvPr/>
          </p:nvSpPr>
          <p:spPr>
            <a:xfrm>
              <a:off x="0" y="28575"/>
              <a:ext cx="1800754" cy="1574632"/>
            </a:xfrm>
            <a:prstGeom prst="rect">
              <a:avLst/>
            </a:prstGeom>
          </p:spPr>
          <p:txBody>
            <a:bodyPr anchor="ctr" rtlCol="false" tIns="50800" lIns="50800" bIns="50800" rIns="50800"/>
            <a:lstStyle/>
            <a:p>
              <a:pPr algn="ctr">
                <a:lnSpc>
                  <a:spcPts val="1134"/>
                </a:lnSpc>
              </a:pPr>
            </a:p>
          </p:txBody>
        </p:sp>
      </p:grpSp>
      <p:sp>
        <p:nvSpPr>
          <p:cNvPr name="Freeform 9" id="9"/>
          <p:cNvSpPr/>
          <p:nvPr/>
        </p:nvSpPr>
        <p:spPr>
          <a:xfrm flipH="false" flipV="false" rot="0">
            <a:off x="16512640" y="639031"/>
            <a:ext cx="779338" cy="779338"/>
          </a:xfrm>
          <a:custGeom>
            <a:avLst/>
            <a:gdLst/>
            <a:ahLst/>
            <a:cxnLst/>
            <a:rect r="r" b="b" t="t" l="l"/>
            <a:pathLst>
              <a:path h="779338" w="779338">
                <a:moveTo>
                  <a:pt x="0" y="0"/>
                </a:moveTo>
                <a:lnTo>
                  <a:pt x="779339" y="0"/>
                </a:lnTo>
                <a:lnTo>
                  <a:pt x="779339" y="779338"/>
                </a:lnTo>
                <a:lnTo>
                  <a:pt x="0" y="779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36383" y="1478411"/>
            <a:ext cx="4659973" cy="4355001"/>
          </a:xfrm>
          <a:custGeom>
            <a:avLst/>
            <a:gdLst/>
            <a:ahLst/>
            <a:cxnLst/>
            <a:rect r="r" b="b" t="t" l="l"/>
            <a:pathLst>
              <a:path h="4355001" w="4659973">
                <a:moveTo>
                  <a:pt x="0" y="0"/>
                </a:moveTo>
                <a:lnTo>
                  <a:pt x="4659973" y="0"/>
                </a:lnTo>
                <a:lnTo>
                  <a:pt x="4659973" y="4355001"/>
                </a:lnTo>
                <a:lnTo>
                  <a:pt x="0" y="4355001"/>
                </a:lnTo>
                <a:lnTo>
                  <a:pt x="0" y="0"/>
                </a:lnTo>
                <a:close/>
              </a:path>
            </a:pathLst>
          </a:custGeom>
          <a:blipFill>
            <a:blip r:embed="rId6"/>
            <a:stretch>
              <a:fillRect l="0" t="0" r="0" b="0"/>
            </a:stretch>
          </a:blipFill>
        </p:spPr>
      </p:sp>
      <p:grpSp>
        <p:nvGrpSpPr>
          <p:cNvPr name="Group 11" id="11"/>
          <p:cNvGrpSpPr/>
          <p:nvPr/>
        </p:nvGrpSpPr>
        <p:grpSpPr>
          <a:xfrm rot="0">
            <a:off x="8089000" y="4291028"/>
            <a:ext cx="6837238" cy="5119972"/>
            <a:chOff x="0" y="0"/>
            <a:chExt cx="1800754" cy="1348470"/>
          </a:xfrm>
        </p:grpSpPr>
        <p:sp>
          <p:nvSpPr>
            <p:cNvPr name="Freeform 12" id="12"/>
            <p:cNvSpPr/>
            <p:nvPr/>
          </p:nvSpPr>
          <p:spPr>
            <a:xfrm flipH="false" flipV="false" rot="0">
              <a:off x="0" y="0"/>
              <a:ext cx="1800754" cy="1348470"/>
            </a:xfrm>
            <a:custGeom>
              <a:avLst/>
              <a:gdLst/>
              <a:ahLst/>
              <a:cxnLst/>
              <a:rect r="r" b="b" t="t" l="l"/>
              <a:pathLst>
                <a:path h="1348470" w="1800754">
                  <a:moveTo>
                    <a:pt x="11323" y="0"/>
                  </a:moveTo>
                  <a:lnTo>
                    <a:pt x="1789431" y="0"/>
                  </a:lnTo>
                  <a:cubicBezTo>
                    <a:pt x="1795685" y="0"/>
                    <a:pt x="1800754" y="5070"/>
                    <a:pt x="1800754" y="11323"/>
                  </a:cubicBezTo>
                  <a:lnTo>
                    <a:pt x="1800754" y="1337147"/>
                  </a:lnTo>
                  <a:cubicBezTo>
                    <a:pt x="1800754" y="1343401"/>
                    <a:pt x="1795685" y="1348470"/>
                    <a:pt x="1789431" y="1348470"/>
                  </a:cubicBezTo>
                  <a:lnTo>
                    <a:pt x="11323" y="1348470"/>
                  </a:lnTo>
                  <a:cubicBezTo>
                    <a:pt x="8320" y="1348470"/>
                    <a:pt x="5440" y="1347277"/>
                    <a:pt x="3316" y="1345154"/>
                  </a:cubicBezTo>
                  <a:cubicBezTo>
                    <a:pt x="1193" y="1343030"/>
                    <a:pt x="0" y="1340150"/>
                    <a:pt x="0" y="1337147"/>
                  </a:cubicBezTo>
                  <a:lnTo>
                    <a:pt x="0" y="11323"/>
                  </a:lnTo>
                  <a:cubicBezTo>
                    <a:pt x="0" y="5070"/>
                    <a:pt x="5070" y="0"/>
                    <a:pt x="11323" y="0"/>
                  </a:cubicBezTo>
                  <a:close/>
                </a:path>
              </a:pathLst>
            </a:custGeom>
            <a:solidFill>
              <a:srgbClr val="9E3327"/>
            </a:solidFill>
          </p:spPr>
        </p:sp>
        <p:sp>
          <p:nvSpPr>
            <p:cNvPr name="TextBox 13" id="13"/>
            <p:cNvSpPr txBox="true"/>
            <p:nvPr/>
          </p:nvSpPr>
          <p:spPr>
            <a:xfrm>
              <a:off x="0" y="28575"/>
              <a:ext cx="1800754" cy="1319895"/>
            </a:xfrm>
            <a:prstGeom prst="rect">
              <a:avLst/>
            </a:prstGeom>
          </p:spPr>
          <p:txBody>
            <a:bodyPr anchor="ctr" rtlCol="false" tIns="50800" lIns="50800" bIns="50800" rIns="50800"/>
            <a:lstStyle/>
            <a:p>
              <a:pPr algn="ctr">
                <a:lnSpc>
                  <a:spcPts val="1134"/>
                </a:lnSpc>
              </a:pPr>
            </a:p>
          </p:txBody>
        </p:sp>
      </p:grpSp>
      <p:sp>
        <p:nvSpPr>
          <p:cNvPr name="Freeform 14" id="14"/>
          <p:cNvSpPr/>
          <p:nvPr/>
        </p:nvSpPr>
        <p:spPr>
          <a:xfrm flipH="false" flipV="false" rot="0">
            <a:off x="8227329" y="4921849"/>
            <a:ext cx="6120384" cy="859521"/>
          </a:xfrm>
          <a:custGeom>
            <a:avLst/>
            <a:gdLst/>
            <a:ahLst/>
            <a:cxnLst/>
            <a:rect r="r" b="b" t="t" l="l"/>
            <a:pathLst>
              <a:path h="859521" w="6120384">
                <a:moveTo>
                  <a:pt x="0" y="0"/>
                </a:moveTo>
                <a:lnTo>
                  <a:pt x="6120384" y="0"/>
                </a:lnTo>
                <a:lnTo>
                  <a:pt x="6120384" y="859521"/>
                </a:lnTo>
                <a:lnTo>
                  <a:pt x="0" y="859521"/>
                </a:lnTo>
                <a:lnTo>
                  <a:pt x="0" y="0"/>
                </a:lnTo>
                <a:close/>
              </a:path>
            </a:pathLst>
          </a:custGeom>
          <a:blipFill>
            <a:blip r:embed="rId7"/>
            <a:stretch>
              <a:fillRect l="0" t="0" r="0" b="0"/>
            </a:stretch>
          </a:blipFill>
        </p:spPr>
      </p:sp>
      <p:sp>
        <p:nvSpPr>
          <p:cNvPr name="Freeform 15" id="15"/>
          <p:cNvSpPr/>
          <p:nvPr/>
        </p:nvSpPr>
        <p:spPr>
          <a:xfrm flipH="false" flipV="false" rot="0">
            <a:off x="8260701" y="5933770"/>
            <a:ext cx="6087012" cy="2302416"/>
          </a:xfrm>
          <a:custGeom>
            <a:avLst/>
            <a:gdLst/>
            <a:ahLst/>
            <a:cxnLst/>
            <a:rect r="r" b="b" t="t" l="l"/>
            <a:pathLst>
              <a:path h="2302416" w="6087012">
                <a:moveTo>
                  <a:pt x="0" y="0"/>
                </a:moveTo>
                <a:lnTo>
                  <a:pt x="6087012" y="0"/>
                </a:lnTo>
                <a:lnTo>
                  <a:pt x="6087012" y="2302416"/>
                </a:lnTo>
                <a:lnTo>
                  <a:pt x="0" y="2302416"/>
                </a:lnTo>
                <a:lnTo>
                  <a:pt x="0" y="0"/>
                </a:lnTo>
                <a:close/>
              </a:path>
            </a:pathLst>
          </a:custGeom>
          <a:blipFill>
            <a:blip r:embed="rId8"/>
            <a:stretch>
              <a:fillRect l="0" t="0" r="0" b="0"/>
            </a:stretch>
          </a:blipFill>
        </p:spPr>
      </p:sp>
      <p:sp>
        <p:nvSpPr>
          <p:cNvPr name="TextBox 16" id="16"/>
          <p:cNvSpPr txBox="true"/>
          <p:nvPr/>
        </p:nvSpPr>
        <p:spPr>
          <a:xfrm rot="0">
            <a:off x="8317547" y="2080410"/>
            <a:ext cx="7463484" cy="1734374"/>
          </a:xfrm>
          <a:prstGeom prst="rect">
            <a:avLst/>
          </a:prstGeom>
        </p:spPr>
        <p:txBody>
          <a:bodyPr anchor="t" rtlCol="false" tIns="0" lIns="0" bIns="0" rIns="0">
            <a:spAutoFit/>
          </a:bodyPr>
          <a:lstStyle/>
          <a:p>
            <a:pPr algn="l">
              <a:lnSpc>
                <a:spcPts val="6542"/>
              </a:lnSpc>
            </a:pPr>
            <a:r>
              <a:rPr lang="en-US" sz="7519" spc="-488">
                <a:solidFill>
                  <a:srgbClr val="9E3327"/>
                </a:solidFill>
                <a:latin typeface="League Spartan"/>
                <a:ea typeface="League Spartan"/>
                <a:cs typeface="League Spartan"/>
                <a:sym typeface="League Spartan"/>
              </a:rPr>
              <a:t>PROGRAMMING </a:t>
            </a:r>
            <a:r>
              <a:rPr lang="en-US" sz="7519" spc="-488">
                <a:solidFill>
                  <a:srgbClr val="2D661F"/>
                </a:solidFill>
                <a:latin typeface="League Spartan"/>
                <a:ea typeface="League Spartan"/>
                <a:cs typeface="League Spartan"/>
                <a:sym typeface="League Spartan"/>
              </a:rPr>
              <a:t>AND </a:t>
            </a:r>
            <a:r>
              <a:rPr lang="en-US" sz="7519" spc="-488">
                <a:solidFill>
                  <a:srgbClr val="9E3327"/>
                </a:solidFill>
                <a:latin typeface="League Spartan"/>
                <a:ea typeface="League Spartan"/>
                <a:cs typeface="League Spartan"/>
                <a:sym typeface="League Spartan"/>
              </a:rPr>
              <a:t>LOGIC</a:t>
            </a:r>
          </a:p>
        </p:txBody>
      </p:sp>
      <p:sp>
        <p:nvSpPr>
          <p:cNvPr name="TextBox 17" id="17"/>
          <p:cNvSpPr txBox="true"/>
          <p:nvPr/>
        </p:nvSpPr>
        <p:spPr>
          <a:xfrm rot="0">
            <a:off x="15145313" y="7151458"/>
            <a:ext cx="2734654" cy="2509519"/>
          </a:xfrm>
          <a:prstGeom prst="rect">
            <a:avLst/>
          </a:prstGeom>
        </p:spPr>
        <p:txBody>
          <a:bodyPr anchor="t" rtlCol="false" tIns="0" lIns="0" bIns="0" rIns="0">
            <a:spAutoFit/>
          </a:bodyPr>
          <a:lstStyle/>
          <a:p>
            <a:pPr algn="l">
              <a:lnSpc>
                <a:spcPts val="2799"/>
              </a:lnSpc>
            </a:pPr>
            <a:r>
              <a:rPr lang="en-US" sz="2799" spc="-55">
                <a:solidFill>
                  <a:srgbClr val="969385"/>
                </a:solidFill>
                <a:latin typeface="Poppins"/>
                <a:ea typeface="Poppins"/>
                <a:cs typeface="Poppins"/>
                <a:sym typeface="Poppins"/>
              </a:rPr>
              <a:t>The ESP32 pr</a:t>
            </a:r>
            <a:r>
              <a:rPr lang="en-US" sz="2799" spc="-55">
                <a:solidFill>
                  <a:srgbClr val="969385"/>
                </a:solidFill>
                <a:latin typeface="Poppins"/>
                <a:ea typeface="Poppins"/>
                <a:cs typeface="Poppins"/>
                <a:sym typeface="Poppins"/>
              </a:rPr>
              <a:t>ocesses sensor data and controls robot movement automatically.</a:t>
            </a:r>
          </a:p>
        </p:txBody>
      </p:sp>
      <p:sp>
        <p:nvSpPr>
          <p:cNvPr name="TextBox 18" id="18"/>
          <p:cNvSpPr txBox="true"/>
          <p:nvPr/>
        </p:nvSpPr>
        <p:spPr>
          <a:xfrm rot="0">
            <a:off x="1028700" y="7578662"/>
            <a:ext cx="3411887" cy="1674614"/>
          </a:xfrm>
          <a:prstGeom prst="rect">
            <a:avLst/>
          </a:prstGeom>
        </p:spPr>
        <p:txBody>
          <a:bodyPr anchor="t" rtlCol="false" tIns="0" lIns="0" bIns="0" rIns="0">
            <a:spAutoFit/>
          </a:bodyPr>
          <a:lstStyle/>
          <a:p>
            <a:pPr algn="l" marL="398003" indent="-199001" lvl="1">
              <a:lnSpc>
                <a:spcPts val="2212"/>
              </a:lnSpc>
              <a:buFont typeface="Arial"/>
              <a:buChar char="•"/>
            </a:pPr>
            <a:r>
              <a:rPr lang="en-US" sz="1843" spc="-36">
                <a:solidFill>
                  <a:srgbClr val="000000"/>
                </a:solidFill>
                <a:latin typeface="Poppins"/>
                <a:ea typeface="Poppins"/>
                <a:cs typeface="Poppins"/>
                <a:sym typeface="Poppins"/>
              </a:rPr>
              <a:t>ESP32 programmed in Arduino IDE</a:t>
            </a:r>
          </a:p>
          <a:p>
            <a:pPr algn="l" marL="398003" indent="-199001" lvl="1">
              <a:lnSpc>
                <a:spcPts val="2212"/>
              </a:lnSpc>
              <a:buFont typeface="Arial"/>
              <a:buChar char="•"/>
            </a:pPr>
            <a:r>
              <a:rPr lang="en-US" sz="1843" spc="-36">
                <a:solidFill>
                  <a:srgbClr val="000000"/>
                </a:solidFill>
                <a:latin typeface="Poppins"/>
                <a:ea typeface="Poppins"/>
                <a:cs typeface="Poppins"/>
                <a:sym typeface="Poppins"/>
              </a:rPr>
              <a:t>Sensor values processed in loop()</a:t>
            </a:r>
          </a:p>
          <a:p>
            <a:pPr algn="l" marL="398003" indent="-199001" lvl="1">
              <a:lnSpc>
                <a:spcPts val="2212"/>
              </a:lnSpc>
              <a:buFont typeface="Arial"/>
              <a:buChar char="•"/>
            </a:pPr>
            <a:r>
              <a:rPr lang="en-US" sz="1843" spc="-36">
                <a:solidFill>
                  <a:srgbClr val="000000"/>
                </a:solidFill>
                <a:latin typeface="Poppins"/>
                <a:ea typeface="Poppins"/>
                <a:cs typeface="Poppins"/>
                <a:sym typeface="Poppins"/>
              </a:rPr>
              <a:t>PWM used for motor speed</a:t>
            </a:r>
          </a:p>
        </p:txBody>
      </p:sp>
      <p:sp>
        <p:nvSpPr>
          <p:cNvPr name="TextBox 19" id="19"/>
          <p:cNvSpPr txBox="true"/>
          <p:nvPr/>
        </p:nvSpPr>
        <p:spPr>
          <a:xfrm rot="0">
            <a:off x="14347713" y="856283"/>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
        <p:nvSpPr>
          <p:cNvPr name="TextBox 20" id="20"/>
          <p:cNvSpPr txBox="true"/>
          <p:nvPr/>
        </p:nvSpPr>
        <p:spPr>
          <a:xfrm rot="0">
            <a:off x="4287046" y="7660667"/>
            <a:ext cx="3418619" cy="1398687"/>
          </a:xfrm>
          <a:prstGeom prst="rect">
            <a:avLst/>
          </a:prstGeom>
        </p:spPr>
        <p:txBody>
          <a:bodyPr anchor="t" rtlCol="false" tIns="0" lIns="0" bIns="0" rIns="0">
            <a:spAutoFit/>
          </a:bodyPr>
          <a:lstStyle/>
          <a:p>
            <a:pPr algn="l" marL="398003" indent="-199001" lvl="1">
              <a:lnSpc>
                <a:spcPts val="2212"/>
              </a:lnSpc>
              <a:buFont typeface="Arial"/>
              <a:buChar char="•"/>
            </a:pPr>
            <a:r>
              <a:rPr lang="en-US" sz="1843" spc="-36">
                <a:solidFill>
                  <a:srgbClr val="000000"/>
                </a:solidFill>
                <a:latin typeface="Poppins"/>
                <a:ea typeface="Poppins"/>
                <a:cs typeface="Poppins"/>
                <a:sym typeface="Poppins"/>
              </a:rPr>
              <a:t>Conditions used for turning</a:t>
            </a:r>
          </a:p>
          <a:p>
            <a:pPr algn="l" marL="398003" indent="-199001" lvl="1">
              <a:lnSpc>
                <a:spcPts val="2212"/>
              </a:lnSpc>
              <a:buFont typeface="Arial"/>
              <a:buChar char="•"/>
            </a:pPr>
            <a:r>
              <a:rPr lang="en-US" sz="1843" spc="-36">
                <a:solidFill>
                  <a:srgbClr val="000000"/>
                </a:solidFill>
                <a:latin typeface="Poppins"/>
                <a:ea typeface="Poppins"/>
                <a:cs typeface="Poppins"/>
                <a:sym typeface="Poppins"/>
              </a:rPr>
              <a:t>PID algorithm used for line correction and stable movement</a:t>
            </a:r>
          </a:p>
        </p:txBody>
      </p:sp>
      <p:sp>
        <p:nvSpPr>
          <p:cNvPr name="TextBox 21" id="21"/>
          <p:cNvSpPr txBox="true"/>
          <p:nvPr/>
        </p:nvSpPr>
        <p:spPr>
          <a:xfrm rot="0">
            <a:off x="1028700" y="802731"/>
            <a:ext cx="5567950" cy="570905"/>
          </a:xfrm>
          <a:prstGeom prst="rect">
            <a:avLst/>
          </a:prstGeom>
        </p:spPr>
        <p:txBody>
          <a:bodyPr anchor="t" rtlCol="false" tIns="0" lIns="0" bIns="0" rIns="0">
            <a:spAutoFit/>
          </a:bodyPr>
          <a:lstStyle/>
          <a:p>
            <a:pPr algn="l">
              <a:lnSpc>
                <a:spcPts val="2212"/>
              </a:lnSpc>
            </a:pPr>
          </a:p>
          <a:p>
            <a:pPr algn="l" marL="398003" indent="-199001" lvl="1">
              <a:lnSpc>
                <a:spcPts val="2212"/>
              </a:lnSpc>
              <a:buFont typeface="Arial"/>
              <a:buChar char="•"/>
            </a:pPr>
            <a:r>
              <a:rPr lang="en-US" sz="1843" spc="-36">
                <a:solidFill>
                  <a:srgbClr val="000000"/>
                </a:solidFill>
                <a:latin typeface="Poppins"/>
                <a:ea typeface="Poppins"/>
                <a:cs typeface="Poppins"/>
                <a:sym typeface="Poppins"/>
              </a:rPr>
              <a:t>S</a:t>
            </a:r>
            <a:r>
              <a:rPr lang="en-US" sz="1843" spc="-36">
                <a:solidFill>
                  <a:srgbClr val="000000"/>
                </a:solidFill>
                <a:latin typeface="Poppins"/>
                <a:ea typeface="Poppins"/>
                <a:cs typeface="Poppins"/>
                <a:sym typeface="Poppins"/>
              </a:rPr>
              <a:t>ensor Reading and Error Calculation</a:t>
            </a:r>
          </a:p>
        </p:txBody>
      </p:sp>
      <p:sp>
        <p:nvSpPr>
          <p:cNvPr name="TextBox 22" id="22"/>
          <p:cNvSpPr txBox="true"/>
          <p:nvPr/>
        </p:nvSpPr>
        <p:spPr>
          <a:xfrm rot="0">
            <a:off x="1028700" y="5914720"/>
            <a:ext cx="5567950" cy="846832"/>
          </a:xfrm>
          <a:prstGeom prst="rect">
            <a:avLst/>
          </a:prstGeom>
        </p:spPr>
        <p:txBody>
          <a:bodyPr anchor="t" rtlCol="false" tIns="0" lIns="0" bIns="0" rIns="0">
            <a:spAutoFit/>
          </a:bodyPr>
          <a:lstStyle/>
          <a:p>
            <a:pPr algn="l" marL="398003" indent="-199001" lvl="1">
              <a:lnSpc>
                <a:spcPts val="2212"/>
              </a:lnSpc>
              <a:buFont typeface="Arial"/>
              <a:buChar char="•"/>
            </a:pPr>
            <a:r>
              <a:rPr lang="en-US" sz="1843" spc="-36">
                <a:solidFill>
                  <a:srgbClr val="000000"/>
                </a:solidFill>
                <a:latin typeface="Poppins"/>
                <a:ea typeface="Poppins"/>
                <a:cs typeface="Poppins"/>
                <a:sym typeface="Poppins"/>
              </a:rPr>
              <a:t>The sensor values are converted into an error value representing the robot’s position relative to the line.</a:t>
            </a:r>
          </a:p>
        </p:txBody>
      </p:sp>
      <p:sp>
        <p:nvSpPr>
          <p:cNvPr name="TextBox 23" id="23"/>
          <p:cNvSpPr txBox="true"/>
          <p:nvPr/>
        </p:nvSpPr>
        <p:spPr>
          <a:xfrm rot="0">
            <a:off x="8227329" y="4475001"/>
            <a:ext cx="5567950" cy="294977"/>
          </a:xfrm>
          <a:prstGeom prst="rect">
            <a:avLst/>
          </a:prstGeom>
        </p:spPr>
        <p:txBody>
          <a:bodyPr anchor="t" rtlCol="false" tIns="0" lIns="0" bIns="0" rIns="0">
            <a:spAutoFit/>
          </a:bodyPr>
          <a:lstStyle/>
          <a:p>
            <a:pPr algn="l" marL="398003" indent="-199001" lvl="1">
              <a:lnSpc>
                <a:spcPts val="2212"/>
              </a:lnSpc>
              <a:buFont typeface="Arial"/>
              <a:buChar char="•"/>
            </a:pPr>
            <a:r>
              <a:rPr lang="en-US" sz="1843" spc="-36">
                <a:solidFill>
                  <a:srgbClr val="000000"/>
                </a:solidFill>
                <a:latin typeface="Poppins"/>
                <a:ea typeface="Poppins"/>
                <a:cs typeface="Poppins"/>
                <a:sym typeface="Poppins"/>
              </a:rPr>
              <a:t>PD Control and Motor Adjustment</a:t>
            </a:r>
          </a:p>
        </p:txBody>
      </p:sp>
      <p:sp>
        <p:nvSpPr>
          <p:cNvPr name="TextBox 24" id="24"/>
          <p:cNvSpPr txBox="true"/>
          <p:nvPr/>
        </p:nvSpPr>
        <p:spPr>
          <a:xfrm rot="0">
            <a:off x="8227329" y="8406444"/>
            <a:ext cx="5567950" cy="846832"/>
          </a:xfrm>
          <a:prstGeom prst="rect">
            <a:avLst/>
          </a:prstGeom>
        </p:spPr>
        <p:txBody>
          <a:bodyPr anchor="t" rtlCol="false" tIns="0" lIns="0" bIns="0" rIns="0">
            <a:spAutoFit/>
          </a:bodyPr>
          <a:lstStyle/>
          <a:p>
            <a:pPr algn="l" marL="398003" indent="-199001" lvl="1">
              <a:lnSpc>
                <a:spcPts val="2212"/>
              </a:lnSpc>
              <a:buFont typeface="Arial"/>
              <a:buChar char="•"/>
            </a:pPr>
            <a:r>
              <a:rPr lang="en-US" sz="1843" spc="-36">
                <a:solidFill>
                  <a:srgbClr val="000000"/>
                </a:solidFill>
                <a:latin typeface="Poppins"/>
                <a:ea typeface="Poppins"/>
                <a:cs typeface="Poppins"/>
                <a:sym typeface="Poppins"/>
              </a:rPr>
              <a:t>The PD controller calculates the correction value and changes motor speeds to keep the robot centered on the line.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0B04"/>
        </a:solidFill>
      </p:bgPr>
    </p:bg>
    <p:spTree>
      <p:nvGrpSpPr>
        <p:cNvPr id="1" name=""/>
        <p:cNvGrpSpPr/>
        <p:nvPr/>
      </p:nvGrpSpPr>
      <p:grpSpPr>
        <a:xfrm>
          <a:off x="0" y="0"/>
          <a:ext cx="0" cy="0"/>
          <a:chOff x="0" y="0"/>
          <a:chExt cx="0" cy="0"/>
        </a:xfrm>
      </p:grpSpPr>
      <p:grpSp>
        <p:nvGrpSpPr>
          <p:cNvPr name="Group 2" id="2"/>
          <p:cNvGrpSpPr/>
          <p:nvPr/>
        </p:nvGrpSpPr>
        <p:grpSpPr>
          <a:xfrm rot="0">
            <a:off x="732784" y="4943591"/>
            <a:ext cx="6026287" cy="3123737"/>
            <a:chOff x="0" y="0"/>
            <a:chExt cx="1587170" cy="822713"/>
          </a:xfrm>
        </p:grpSpPr>
        <p:sp>
          <p:nvSpPr>
            <p:cNvPr name="Freeform 3" id="3"/>
            <p:cNvSpPr/>
            <p:nvPr/>
          </p:nvSpPr>
          <p:spPr>
            <a:xfrm flipH="false" flipV="false" rot="0">
              <a:off x="0" y="0"/>
              <a:ext cx="1587170" cy="822713"/>
            </a:xfrm>
            <a:custGeom>
              <a:avLst/>
              <a:gdLst/>
              <a:ahLst/>
              <a:cxnLst/>
              <a:rect r="r" b="b" t="t" l="l"/>
              <a:pathLst>
                <a:path h="822713" w="1587170">
                  <a:moveTo>
                    <a:pt x="12847" y="0"/>
                  </a:moveTo>
                  <a:lnTo>
                    <a:pt x="1574323" y="0"/>
                  </a:lnTo>
                  <a:cubicBezTo>
                    <a:pt x="1577730" y="0"/>
                    <a:pt x="1580998" y="1354"/>
                    <a:pt x="1583407" y="3763"/>
                  </a:cubicBezTo>
                  <a:cubicBezTo>
                    <a:pt x="1585817" y="6172"/>
                    <a:pt x="1587170" y="9440"/>
                    <a:pt x="1587170" y="12847"/>
                  </a:cubicBezTo>
                  <a:lnTo>
                    <a:pt x="1587170" y="809866"/>
                  </a:lnTo>
                  <a:cubicBezTo>
                    <a:pt x="1587170" y="813273"/>
                    <a:pt x="1585817" y="816541"/>
                    <a:pt x="1583407" y="818950"/>
                  </a:cubicBezTo>
                  <a:cubicBezTo>
                    <a:pt x="1580998" y="821359"/>
                    <a:pt x="1577730" y="822713"/>
                    <a:pt x="1574323" y="822713"/>
                  </a:cubicBezTo>
                  <a:lnTo>
                    <a:pt x="12847" y="822713"/>
                  </a:lnTo>
                  <a:cubicBezTo>
                    <a:pt x="9440" y="822713"/>
                    <a:pt x="6172" y="821359"/>
                    <a:pt x="3763" y="818950"/>
                  </a:cubicBezTo>
                  <a:cubicBezTo>
                    <a:pt x="1354" y="816541"/>
                    <a:pt x="0" y="813273"/>
                    <a:pt x="0" y="809866"/>
                  </a:cubicBezTo>
                  <a:lnTo>
                    <a:pt x="0" y="12847"/>
                  </a:lnTo>
                  <a:cubicBezTo>
                    <a:pt x="0" y="9440"/>
                    <a:pt x="1354" y="6172"/>
                    <a:pt x="3763" y="3763"/>
                  </a:cubicBezTo>
                  <a:cubicBezTo>
                    <a:pt x="6172" y="1354"/>
                    <a:pt x="9440" y="0"/>
                    <a:pt x="12847" y="0"/>
                  </a:cubicBezTo>
                  <a:close/>
                </a:path>
              </a:pathLst>
            </a:custGeom>
            <a:solidFill>
              <a:srgbClr val="9E3327"/>
            </a:solidFill>
          </p:spPr>
        </p:sp>
        <p:sp>
          <p:nvSpPr>
            <p:cNvPr name="TextBox 4" id="4"/>
            <p:cNvSpPr txBox="true"/>
            <p:nvPr/>
          </p:nvSpPr>
          <p:spPr>
            <a:xfrm>
              <a:off x="0" y="28575"/>
              <a:ext cx="1587170" cy="794138"/>
            </a:xfrm>
            <a:prstGeom prst="rect">
              <a:avLst/>
            </a:prstGeom>
          </p:spPr>
          <p:txBody>
            <a:bodyPr anchor="ctr" rtlCol="false" tIns="50800" lIns="50800" bIns="50800" rIns="50800"/>
            <a:lstStyle/>
            <a:p>
              <a:pPr algn="ctr">
                <a:lnSpc>
                  <a:spcPts val="1134"/>
                </a:lnSpc>
              </a:pPr>
            </a:p>
          </p:txBody>
        </p:sp>
      </p:grpSp>
      <p:sp>
        <p:nvSpPr>
          <p:cNvPr name="Freeform 5" id="5"/>
          <p:cNvSpPr/>
          <p:nvPr/>
        </p:nvSpPr>
        <p:spPr>
          <a:xfrm flipH="false" flipV="false" rot="0">
            <a:off x="10137142" y="3206121"/>
            <a:ext cx="1228140" cy="1228140"/>
          </a:xfrm>
          <a:custGeom>
            <a:avLst/>
            <a:gdLst/>
            <a:ahLst/>
            <a:cxnLst/>
            <a:rect r="r" b="b" t="t" l="l"/>
            <a:pathLst>
              <a:path h="1228140" w="1228140">
                <a:moveTo>
                  <a:pt x="0" y="0"/>
                </a:moveTo>
                <a:lnTo>
                  <a:pt x="1228139" y="0"/>
                </a:lnTo>
                <a:lnTo>
                  <a:pt x="1228139" y="1228140"/>
                </a:lnTo>
                <a:lnTo>
                  <a:pt x="0" y="12281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669354" y="9258300"/>
            <a:ext cx="526288" cy="527247"/>
          </a:xfrm>
          <a:custGeom>
            <a:avLst/>
            <a:gdLst/>
            <a:ahLst/>
            <a:cxnLst/>
            <a:rect r="r" b="b" t="t" l="l"/>
            <a:pathLst>
              <a:path h="527247" w="526288">
                <a:moveTo>
                  <a:pt x="0" y="0"/>
                </a:moveTo>
                <a:lnTo>
                  <a:pt x="526288" y="0"/>
                </a:lnTo>
                <a:lnTo>
                  <a:pt x="526288" y="527247"/>
                </a:lnTo>
                <a:lnTo>
                  <a:pt x="0" y="527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253984" y="1133989"/>
            <a:ext cx="779338" cy="779338"/>
          </a:xfrm>
          <a:custGeom>
            <a:avLst/>
            <a:gdLst/>
            <a:ahLst/>
            <a:cxnLst/>
            <a:rect r="r" b="b" t="t" l="l"/>
            <a:pathLst>
              <a:path h="779338" w="779338">
                <a:moveTo>
                  <a:pt x="0" y="0"/>
                </a:moveTo>
                <a:lnTo>
                  <a:pt x="779338" y="0"/>
                </a:lnTo>
                <a:lnTo>
                  <a:pt x="779338" y="779338"/>
                </a:lnTo>
                <a:lnTo>
                  <a:pt x="0" y="779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341413" y="2687325"/>
            <a:ext cx="4917887" cy="6716647"/>
          </a:xfrm>
          <a:custGeom>
            <a:avLst/>
            <a:gdLst/>
            <a:ahLst/>
            <a:cxnLst/>
            <a:rect r="r" b="b" t="t" l="l"/>
            <a:pathLst>
              <a:path h="6716647" w="4917887">
                <a:moveTo>
                  <a:pt x="0" y="0"/>
                </a:moveTo>
                <a:lnTo>
                  <a:pt x="4917887" y="0"/>
                </a:lnTo>
                <a:lnTo>
                  <a:pt x="4917887" y="6716648"/>
                </a:lnTo>
                <a:lnTo>
                  <a:pt x="0" y="6716648"/>
                </a:lnTo>
                <a:lnTo>
                  <a:pt x="0" y="0"/>
                </a:lnTo>
                <a:close/>
              </a:path>
            </a:pathLst>
          </a:custGeom>
          <a:blipFill>
            <a:blip r:embed="rId8"/>
            <a:stretch>
              <a:fillRect l="0" t="0" r="0" b="0"/>
            </a:stretch>
          </a:blipFill>
        </p:spPr>
      </p:sp>
      <p:sp>
        <p:nvSpPr>
          <p:cNvPr name="TextBox 9" id="9"/>
          <p:cNvSpPr txBox="true"/>
          <p:nvPr/>
        </p:nvSpPr>
        <p:spPr>
          <a:xfrm rot="0">
            <a:off x="692225" y="2029450"/>
            <a:ext cx="11146206" cy="1405745"/>
          </a:xfrm>
          <a:prstGeom prst="rect">
            <a:avLst/>
          </a:prstGeom>
        </p:spPr>
        <p:txBody>
          <a:bodyPr anchor="t" rtlCol="false" tIns="0" lIns="0" bIns="0" rIns="0">
            <a:spAutoFit/>
          </a:bodyPr>
          <a:lstStyle/>
          <a:p>
            <a:pPr algn="l">
              <a:lnSpc>
                <a:spcPts val="10191"/>
              </a:lnSpc>
            </a:pPr>
            <a:r>
              <a:rPr lang="en-US" sz="11713" spc="-761">
                <a:solidFill>
                  <a:srgbClr val="2D661F"/>
                </a:solidFill>
                <a:latin typeface="League Spartan"/>
                <a:ea typeface="League Spartan"/>
                <a:cs typeface="League Spartan"/>
                <a:sym typeface="League Spartan"/>
              </a:rPr>
              <a:t>CONCLUSION</a:t>
            </a:r>
          </a:p>
        </p:txBody>
      </p:sp>
      <p:sp>
        <p:nvSpPr>
          <p:cNvPr name="TextBox 10" id="10"/>
          <p:cNvSpPr txBox="true"/>
          <p:nvPr/>
        </p:nvSpPr>
        <p:spPr>
          <a:xfrm rot="0">
            <a:off x="1731808" y="5433798"/>
            <a:ext cx="3578173" cy="348233"/>
          </a:xfrm>
          <a:prstGeom prst="rect">
            <a:avLst/>
          </a:prstGeom>
        </p:spPr>
        <p:txBody>
          <a:bodyPr anchor="t" rtlCol="false" tIns="0" lIns="0" bIns="0" rIns="0">
            <a:spAutoFit/>
          </a:bodyPr>
          <a:lstStyle/>
          <a:p>
            <a:pPr algn="ctr">
              <a:lnSpc>
                <a:spcPts val="2267"/>
              </a:lnSpc>
            </a:pPr>
            <a:r>
              <a:rPr lang="en-US" b="true" sz="2799" spc="-55">
                <a:solidFill>
                  <a:srgbClr val="000000"/>
                </a:solidFill>
                <a:latin typeface="Poppins Bold"/>
                <a:ea typeface="Poppins Bold"/>
                <a:cs typeface="Poppins Bold"/>
                <a:sym typeface="Poppins Bold"/>
              </a:rPr>
              <a:t>Results and Testing</a:t>
            </a:r>
          </a:p>
        </p:txBody>
      </p:sp>
      <p:sp>
        <p:nvSpPr>
          <p:cNvPr name="TextBox 11" id="11"/>
          <p:cNvSpPr txBox="true"/>
          <p:nvPr/>
        </p:nvSpPr>
        <p:spPr>
          <a:xfrm rot="0">
            <a:off x="7072937" y="5481111"/>
            <a:ext cx="4765495" cy="1721748"/>
          </a:xfrm>
          <a:prstGeom prst="rect">
            <a:avLst/>
          </a:prstGeom>
        </p:spPr>
        <p:txBody>
          <a:bodyPr anchor="t" rtlCol="false" tIns="0" lIns="0" bIns="0" rIns="0">
            <a:spAutoFit/>
          </a:bodyPr>
          <a:lstStyle/>
          <a:p>
            <a:pPr algn="l">
              <a:lnSpc>
                <a:spcPts val="2287"/>
              </a:lnSpc>
            </a:pPr>
            <a:r>
              <a:rPr lang="en-US" sz="1906" spc="-38">
                <a:solidFill>
                  <a:srgbClr val="969385"/>
                </a:solidFill>
                <a:latin typeface="Poppins"/>
                <a:ea typeface="Poppins"/>
                <a:cs typeface="Poppins"/>
                <a:sym typeface="Poppins"/>
              </a:rPr>
              <a:t>During testing, the robot successfully followed the predefined path and responded correctly to turns and curves. The system demonstrated stable movement and reliable sensor detection under normal operating conditions.</a:t>
            </a:r>
          </a:p>
        </p:txBody>
      </p:sp>
      <p:sp>
        <p:nvSpPr>
          <p:cNvPr name="TextBox 12" id="12"/>
          <p:cNvSpPr txBox="true"/>
          <p:nvPr/>
        </p:nvSpPr>
        <p:spPr>
          <a:xfrm rot="0">
            <a:off x="1185968" y="6186763"/>
            <a:ext cx="5079361" cy="1539878"/>
          </a:xfrm>
          <a:prstGeom prst="rect">
            <a:avLst/>
          </a:prstGeom>
        </p:spPr>
        <p:txBody>
          <a:bodyPr anchor="t" rtlCol="false" tIns="0" lIns="0" bIns="0" rIns="0">
            <a:spAutoFit/>
          </a:bodyPr>
          <a:lstStyle/>
          <a:p>
            <a:pPr algn="l" marL="438734" indent="-219367" lvl="1">
              <a:lnSpc>
                <a:spcPts val="2438"/>
              </a:lnSpc>
              <a:buFont typeface="Arial"/>
              <a:buChar char="•"/>
            </a:pPr>
            <a:r>
              <a:rPr lang="en-US" sz="2032" spc="-40">
                <a:solidFill>
                  <a:srgbClr val="000000"/>
                </a:solidFill>
                <a:latin typeface="Poppins"/>
                <a:ea typeface="Poppins"/>
                <a:cs typeface="Poppins"/>
                <a:sym typeface="Poppins"/>
              </a:rPr>
              <a:t>Robot follows black line</a:t>
            </a:r>
          </a:p>
          <a:p>
            <a:pPr algn="l" marL="438734" indent="-219367" lvl="1">
              <a:lnSpc>
                <a:spcPts val="2438"/>
              </a:lnSpc>
              <a:buFont typeface="Arial"/>
              <a:buChar char="•"/>
            </a:pPr>
            <a:r>
              <a:rPr lang="en-US" sz="2032" spc="-40">
                <a:solidFill>
                  <a:srgbClr val="000000"/>
                </a:solidFill>
                <a:latin typeface="Poppins"/>
                <a:ea typeface="Poppins"/>
                <a:cs typeface="Poppins"/>
                <a:sym typeface="Poppins"/>
              </a:rPr>
              <a:t>Detects turns</a:t>
            </a:r>
          </a:p>
          <a:p>
            <a:pPr algn="l" marL="438734" indent="-219367" lvl="1">
              <a:lnSpc>
                <a:spcPts val="2438"/>
              </a:lnSpc>
              <a:buFont typeface="Arial"/>
              <a:buChar char="•"/>
            </a:pPr>
            <a:r>
              <a:rPr lang="en-US" sz="2032" spc="-40">
                <a:solidFill>
                  <a:srgbClr val="000000"/>
                </a:solidFill>
                <a:latin typeface="Poppins"/>
                <a:ea typeface="Poppins"/>
                <a:cs typeface="Poppins"/>
                <a:sym typeface="Poppins"/>
              </a:rPr>
              <a:t>Adjusts direction automatically</a:t>
            </a:r>
          </a:p>
          <a:p>
            <a:pPr algn="l" marL="438734" indent="-219367" lvl="1">
              <a:lnSpc>
                <a:spcPts val="2438"/>
              </a:lnSpc>
              <a:buFont typeface="Arial"/>
              <a:buChar char="•"/>
            </a:pPr>
            <a:r>
              <a:rPr lang="en-US" sz="2032" spc="-40">
                <a:solidFill>
                  <a:srgbClr val="000000"/>
                </a:solidFill>
                <a:latin typeface="Poppins"/>
                <a:ea typeface="Poppins"/>
                <a:cs typeface="Poppins"/>
                <a:sym typeface="Poppins"/>
              </a:rPr>
              <a:t>Stable movement</a:t>
            </a:r>
          </a:p>
          <a:p>
            <a:pPr algn="l">
              <a:lnSpc>
                <a:spcPts val="2438"/>
              </a:lnSpc>
            </a:pPr>
          </a:p>
        </p:txBody>
      </p:sp>
      <p:sp>
        <p:nvSpPr>
          <p:cNvPr name="TextBox 13" id="13"/>
          <p:cNvSpPr txBox="true"/>
          <p:nvPr/>
        </p:nvSpPr>
        <p:spPr>
          <a:xfrm rot="0">
            <a:off x="14007261" y="1351241"/>
            <a:ext cx="2866635" cy="306734"/>
          </a:xfrm>
          <a:prstGeom prst="rect">
            <a:avLst/>
          </a:prstGeom>
        </p:spPr>
        <p:txBody>
          <a:bodyPr anchor="t" rtlCol="false" tIns="0" lIns="0" bIns="0" rIns="0">
            <a:spAutoFit/>
          </a:bodyPr>
          <a:lstStyle/>
          <a:p>
            <a:pPr algn="l">
              <a:lnSpc>
                <a:spcPts val="2518"/>
              </a:lnSpc>
              <a:spcBef>
                <a:spcPct val="0"/>
              </a:spcBef>
            </a:pPr>
            <a:r>
              <a:rPr lang="en-US" b="true" sz="1798" spc="-116">
                <a:solidFill>
                  <a:srgbClr val="969385"/>
                </a:solidFill>
                <a:latin typeface="Open Sauce Bold"/>
                <a:ea typeface="Open Sauce Bold"/>
                <a:cs typeface="Open Sauce Bold"/>
                <a:sym typeface="Open Sauce Bold"/>
              </a:rPr>
              <a:t>ROBOT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DAHJpAZH82w</dc:identifier>
  <dcterms:modified xsi:type="dcterms:W3CDTF">2011-08-01T06:04:30Z</dcterms:modified>
  <cp:revision>1</cp:revision>
  <dc:title>Line</dc:title>
</cp:coreProperties>
</file>